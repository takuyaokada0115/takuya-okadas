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割合</c:v>
                </c:pt>
              </c:strCache>
            </c:strRef>
          </c:tx>
          <c:spPr>
            <a:solidFill>
              <a:srgbClr val="3E5C76"/>
            </a:solidFill>
            <a:effectLst/>
          </c:spPr>
          <c:invertIfNegative val="0"/>
          <c:dLbls>
            <c:numFmt formatCode="0&quot;%&quot;" sourceLinked="0"/>
            <c:txPr>
              <a:bodyPr/>
              <a:lstStyle/>
              <a:p>
                <a:pPr>
                  <a:defRPr b="1" i="0" strike="noStrike" sz="1400" u="none">
                    <a:solidFill>
                      <a:srgbClr val="1A2332"/>
                    </a:solidFill>
                    <a:latin typeface="Calibri"/>
                  </a:defRPr>
                </a:pPr>
              </a:p>
            </c:txPr>
            <c:showLegendKey val="0"/>
            <c:showVal val="1"/>
            <c:showCatName val="0"/>
            <c:showSerName val="0"/>
            <c:showPercent val="0"/>
            <c:showBubbleSize val="0"/>
            <c:showLeaderLines val="0"/>
          </c:dLbls>
          <c:dPt>
            <c:idx val="0"/>
            <c:invertIfNegative val="0"/>
            <c:bubble3D val="0"/>
            <c:spPr>
              <a:solidFill>
                <a:srgbClr val="3E5C76"/>
              </a:solidFill>
              <a:effectLst/>
            </c:spPr>
          </c:dPt>
          <c:dPt>
            <c:idx val="1"/>
            <c:invertIfNegative val="0"/>
            <c:bubble3D val="0"/>
            <c:spPr>
              <a:solidFill>
                <a:srgbClr val="C8102E"/>
              </a:solidFill>
              <a:effectLst/>
            </c:spPr>
          </c:dPt>
          <c:dPt>
            <c:idx val="2"/>
            <c:invertIfNegative val="0"/>
            <c:bubble3D val="0"/>
            <c:spPr>
              <a:solidFill>
                <a:srgbClr val="C8791A"/>
              </a:solidFill>
              <a:effectLst/>
            </c:spPr>
          </c:dPt>
          <c:cat>
            <c:multiLvlStrRef>
              <c:f>Sheet1!$A$2:$A$4</c:f>
              <c:multiLvlStrCache>
                <c:ptCount val="3"/>
                <c:lvl>
                  <c:pt idx="0">
                    <c:v>脆弱性</c:v>
                  </c:pt>
                  <c:pt idx="1">
                    <c:v>認証情報の窃取</c:v>
                  </c:pt>
                  <c:pt idx="2">
                    <c:v>設定不備</c:v>
                  </c:pt>
                </c:lvl>
              </c:multiLvlStrCache>
            </c:multiLvlStrRef>
          </c:cat>
          <c:val>
            <c:numRef>
              <c:f>Sheet1!$B$2:$B$4</c:f>
              <c:numCache>
                <c:formatCode>General</c:formatCode>
                <c:ptCount val="3"/>
                <c:pt idx="0">
                  <c:v>39</c:v>
                </c:pt>
                <c:pt idx="1">
                  <c:v>34</c:v>
                </c:pt>
                <c:pt idx="2">
                  <c:v>26</c:v>
                </c:pt>
              </c:numCache>
            </c:numRef>
          </c:val>
        </c:ser>
        <c:dLbls>
          <c:numFmt formatCode="0&quot;%&quot;" sourceLinked="0"/>
          <c:txPr>
            <a:bodyPr/>
            <a:lstStyle/>
            <a:p>
              <a:pPr>
                <a:defRPr b="1" i="0" strike="noStrike" sz="1400" u="none">
                  <a:solidFill>
                    <a:srgbClr val="1A2332"/>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1" i="0" u="none" strike="noStrike">
                <a:solidFill>
                  <a:srgbClr val="1A2332"/>
                </a:solidFill>
                <a:latin typeface="Calibri"/>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D"/>
        </a:solidFill>
      </p:bgPr>
    </p:bg>
    <p:spTree>
      <p:nvGrpSpPr>
        <p:cNvPr id="1" name=""/>
        <p:cNvGrpSpPr/>
        <p:nvPr/>
      </p:nvGrpSpPr>
      <p:grpSpPr>
        <a:xfrm>
          <a:off x="0" y="0"/>
          <a:ext cx="0" cy="0"/>
          <a:chOff x="0" y="0"/>
          <a:chExt cx="0" cy="0"/>
        </a:xfrm>
      </p:grpSpPr>
      <p:sp>
        <p:nvSpPr>
          <p:cNvPr id="2" name="Shape 0"/>
          <p:cNvSpPr/>
          <p:nvPr/>
        </p:nvSpPr>
        <p:spPr>
          <a:xfrm rot="1080000">
            <a:off x="8869680" y="-1005840"/>
            <a:ext cx="4206240" cy="4206240"/>
          </a:xfrm>
          <a:prstGeom prst="roundRect">
            <a:avLst>
              <a:gd name="adj" fmla="val 10870"/>
            </a:avLst>
          </a:prstGeom>
          <a:solidFill>
            <a:srgbClr val="18294F"/>
          </a:solidFill>
          <a:ln/>
        </p:spPr>
      </p:sp>
      <p:sp>
        <p:nvSpPr>
          <p:cNvPr id="3" name="Shape 1"/>
          <p:cNvSpPr/>
          <p:nvPr/>
        </p:nvSpPr>
        <p:spPr>
          <a:xfrm rot="1080000">
            <a:off x="9966960" y="3383280"/>
            <a:ext cx="3474720" cy="3474720"/>
          </a:xfrm>
          <a:prstGeom prst="roundRect">
            <a:avLst>
              <a:gd name="adj" fmla="val 13158"/>
            </a:avLst>
          </a:prstGeom>
          <a:solidFill>
            <a:srgbClr val="18294F"/>
          </a:solidFill>
          <a:ln/>
        </p:spPr>
      </p:sp>
      <p:sp>
        <p:nvSpPr>
          <p:cNvPr id="4" name="Shape 2"/>
          <p:cNvSpPr/>
          <p:nvPr/>
        </p:nvSpPr>
        <p:spPr>
          <a:xfrm>
            <a:off x="566928" y="1847088"/>
            <a:ext cx="128016" cy="2468880"/>
          </a:xfrm>
          <a:prstGeom prst="rect">
            <a:avLst/>
          </a:prstGeom>
          <a:solidFill>
            <a:srgbClr val="C8102E"/>
          </a:solidFill>
          <a:ln/>
        </p:spPr>
      </p:sp>
      <p:sp>
        <p:nvSpPr>
          <p:cNvPr id="5" name="Text 3"/>
          <p:cNvSpPr/>
          <p:nvPr/>
        </p:nvSpPr>
        <p:spPr>
          <a:xfrm>
            <a:off x="859536" y="1417320"/>
            <a:ext cx="10058400" cy="365760"/>
          </a:xfrm>
          <a:prstGeom prst="rect">
            <a:avLst/>
          </a:prstGeom>
          <a:noFill/>
          <a:ln/>
        </p:spPr>
        <p:txBody>
          <a:bodyPr wrap="square" lIns="0" tIns="0" rIns="0" bIns="0" rtlCol="0" anchor="ctr"/>
          <a:lstStyle/>
          <a:p>
            <a:pPr indent="0" marL="0">
              <a:buNone/>
            </a:pPr>
            <a:r>
              <a:rPr lang="en-US" sz="1400" b="1" spc="200" kern="0" dirty="0">
                <a:solidFill>
                  <a:srgbClr val="DCE6F5"/>
                </a:solidFill>
                <a:latin typeface="Calibri" pitchFamily="34" charset="0"/>
                <a:ea typeface="Calibri" pitchFamily="34" charset="-122"/>
                <a:cs typeface="Calibri" pitchFamily="34" charset="-120"/>
              </a:rPr>
              <a:t>AENA｜ランサムウェア対策 検討資料</a:t>
            </a:r>
            <a:endParaRPr lang="en-US" sz="1400" dirty="0"/>
          </a:p>
        </p:txBody>
      </p:sp>
      <p:sp>
        <p:nvSpPr>
          <p:cNvPr id="6" name="Text 4"/>
          <p:cNvSpPr/>
          <p:nvPr/>
        </p:nvSpPr>
        <p:spPr>
          <a:xfrm>
            <a:off x="822960" y="1965960"/>
            <a:ext cx="10607040" cy="1920240"/>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SentinelOne 導入後も</a:t>
            </a:r>
            <a:endParaRPr lang="en-US" sz="4400" dirty="0"/>
          </a:p>
          <a:p>
            <a:pPr indent="0" marL="0">
              <a:lnSpc>
                <a:spcPts val="5200"/>
              </a:lnSpc>
              <a:buNone/>
            </a:pPr>
            <a:r>
              <a:rPr lang="en-US" sz="4400" b="1" dirty="0">
                <a:solidFill>
                  <a:srgbClr val="FF6B81"/>
                </a:solidFill>
                <a:latin typeface="Cambria" pitchFamily="34" charset="0"/>
                <a:ea typeface="Cambria" pitchFamily="34" charset="-122"/>
                <a:cs typeface="Cambria" pitchFamily="34" charset="-120"/>
              </a:rPr>
              <a:t>「脆弱性検査は不要」ではない</a:t>
            </a:r>
            <a:endParaRPr lang="en-US" sz="4400" dirty="0"/>
          </a:p>
        </p:txBody>
      </p:sp>
      <p:sp>
        <p:nvSpPr>
          <p:cNvPr id="7" name="Text 5"/>
          <p:cNvSpPr/>
          <p:nvPr/>
        </p:nvSpPr>
        <p:spPr>
          <a:xfrm>
            <a:off x="859536" y="4160520"/>
            <a:ext cx="10424160" cy="822960"/>
          </a:xfrm>
          <a:prstGeom prst="rect">
            <a:avLst/>
          </a:prstGeom>
          <a:noFill/>
          <a:ln/>
        </p:spPr>
        <p:txBody>
          <a:bodyPr wrap="square" lIns="0" tIns="0" rIns="0" bIns="0" rtlCol="0" anchor="t"/>
          <a:lstStyle/>
          <a:p>
            <a:pPr indent="0" marL="0">
              <a:lnSpc>
                <a:spcPts val="2600"/>
              </a:lnSpc>
              <a:buNone/>
            </a:pPr>
            <a:r>
              <a:rPr lang="en-US" sz="1700" i="1" dirty="0">
                <a:solidFill>
                  <a:srgbClr val="DCE6F5"/>
                </a:solidFill>
                <a:latin typeface="Calibri" pitchFamily="34" charset="0"/>
                <a:ea typeface="Calibri" pitchFamily="34" charset="-122"/>
                <a:cs typeface="Calibri" pitchFamily="34" charset="-120"/>
              </a:rPr>
              <a:t>― ランサム被害は「アカウント乗っ取り・侵入」の後に起きる。EDRが働くのは、その最終段階だけ。</a:t>
            </a:r>
            <a:endParaRPr lang="en-US" sz="1700" dirty="0"/>
          </a:p>
        </p:txBody>
      </p:sp>
      <p:sp>
        <p:nvSpPr>
          <p:cNvPr id="8" name="Text 6"/>
          <p:cNvSpPr/>
          <p:nvPr/>
        </p:nvSpPr>
        <p:spPr>
          <a:xfrm>
            <a:off x="859536" y="6126480"/>
            <a:ext cx="10424160" cy="320040"/>
          </a:xfrm>
          <a:prstGeom prst="rect">
            <a:avLst/>
          </a:prstGeom>
          <a:noFill/>
          <a:ln/>
        </p:spPr>
        <p:txBody>
          <a:bodyPr wrap="square" lIns="0" tIns="0" rIns="0" bIns="0" rtlCol="0" anchor="ctr"/>
          <a:lstStyle/>
          <a:p>
            <a:pPr indent="0" marL="0">
              <a:buNone/>
            </a:pPr>
            <a:r>
              <a:rPr lang="en-US" sz="1100" dirty="0">
                <a:solidFill>
                  <a:srgbClr val="9AA6BF"/>
                </a:solidFill>
                <a:latin typeface="Calibri" pitchFamily="34" charset="0"/>
                <a:ea typeface="Calibri" pitchFamily="34" charset="-122"/>
                <a:cs typeface="Calibri" pitchFamily="34" charset="-120"/>
              </a:rPr>
              <a:t>作成日: 2026-07-26 ／ 出典: 警察庁・トレンドマイクロ・BleepingComputer 他（末尾に記載）</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結論（先に要点）</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S-1 と脆弱性検査は「守る層」が違う。代替ではなく補完。</a:t>
            </a:r>
            <a:endParaRPr lang="en-US" sz="3200" dirty="0"/>
          </a:p>
        </p:txBody>
      </p:sp>
      <p:sp>
        <p:nvSpPr>
          <p:cNvPr id="4" name="Shape 2"/>
          <p:cNvSpPr/>
          <p:nvPr/>
        </p:nvSpPr>
        <p:spPr>
          <a:xfrm>
            <a:off x="566928" y="1874520"/>
            <a:ext cx="3502152" cy="3977640"/>
          </a:xfrm>
          <a:prstGeom prst="roundRect">
            <a:avLst>
              <a:gd name="adj" fmla="val 235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5" name="Text 3"/>
          <p:cNvSpPr/>
          <p:nvPr/>
        </p:nvSpPr>
        <p:spPr>
          <a:xfrm>
            <a:off x="841248" y="2103120"/>
            <a:ext cx="1828800" cy="822960"/>
          </a:xfrm>
          <a:prstGeom prst="rect">
            <a:avLst/>
          </a:prstGeom>
          <a:noFill/>
          <a:ln/>
        </p:spPr>
        <p:txBody>
          <a:bodyPr wrap="square" lIns="0" tIns="0" rIns="0" bIns="0" rtlCol="0" anchor="ctr"/>
          <a:lstStyle/>
          <a:p>
            <a:pPr indent="0" marL="0">
              <a:buNone/>
            </a:pPr>
            <a:r>
              <a:rPr lang="en-US" sz="4600" b="1" dirty="0">
                <a:solidFill>
                  <a:srgbClr val="C8102E"/>
                </a:solidFill>
                <a:latin typeface="Cambria" pitchFamily="34" charset="0"/>
                <a:ea typeface="Cambria" pitchFamily="34" charset="-122"/>
                <a:cs typeface="Cambria" pitchFamily="34" charset="-120"/>
              </a:rPr>
              <a:t>01</a:t>
            </a:r>
            <a:endParaRPr lang="en-US" sz="4600" dirty="0"/>
          </a:p>
        </p:txBody>
      </p:sp>
      <p:sp>
        <p:nvSpPr>
          <p:cNvPr id="6" name="Text 4"/>
          <p:cNvSpPr/>
          <p:nvPr/>
        </p:nvSpPr>
        <p:spPr>
          <a:xfrm>
            <a:off x="841248" y="3035808"/>
            <a:ext cx="2953512" cy="685800"/>
          </a:xfrm>
          <a:prstGeom prst="rect">
            <a:avLst/>
          </a:prstGeom>
          <a:noFill/>
          <a:ln/>
        </p:spPr>
        <p:txBody>
          <a:bodyPr wrap="square" lIns="0" tIns="0" rIns="0" bIns="0" rtlCol="0" anchor="t"/>
          <a:lstStyle/>
          <a:p>
            <a:pPr indent="0" marL="0">
              <a:buNone/>
            </a:pPr>
            <a:r>
              <a:rPr lang="en-US" sz="2000" b="1" dirty="0">
                <a:solidFill>
                  <a:srgbClr val="0E1B3D"/>
                </a:solidFill>
                <a:latin typeface="Cambria" pitchFamily="34" charset="0"/>
                <a:ea typeface="Cambria" pitchFamily="34" charset="-122"/>
                <a:cs typeface="Cambria" pitchFamily="34" charset="-120"/>
              </a:rPr>
              <a:t>侵入は「入口」から</a:t>
            </a:r>
            <a:endParaRPr lang="en-US" sz="2000" dirty="0"/>
          </a:p>
        </p:txBody>
      </p:sp>
      <p:sp>
        <p:nvSpPr>
          <p:cNvPr id="7" name="Text 5"/>
          <p:cNvSpPr/>
          <p:nvPr/>
        </p:nvSpPr>
        <p:spPr>
          <a:xfrm>
            <a:off x="841248" y="3767328"/>
            <a:ext cx="2953512" cy="1920240"/>
          </a:xfrm>
          <a:prstGeom prst="rect">
            <a:avLst/>
          </a:prstGeom>
          <a:noFill/>
          <a:ln/>
        </p:spPr>
        <p:txBody>
          <a:bodyPr wrap="square" lIns="0" tIns="0" rIns="0" bIns="0" rtlCol="0" anchor="t"/>
          <a:lstStyle/>
          <a:p>
            <a:pPr indent="0" marL="0">
              <a:lnSpc>
                <a:spcPts val="2000"/>
              </a:lnSpc>
              <a:buNone/>
            </a:pPr>
            <a:r>
              <a:rPr lang="en-US" sz="1350" dirty="0">
                <a:solidFill>
                  <a:srgbClr val="1A2332"/>
                </a:solidFill>
                <a:latin typeface="Calibri" pitchFamily="34" charset="0"/>
                <a:ea typeface="Calibri" pitchFamily="34" charset="-122"/>
                <a:cs typeface="Calibri" pitchFamily="34" charset="-120"/>
              </a:rPr>
              <a:t>攻撃の起点はVPN・公開サーバの脆弱性や、盗まれた正規アカウント。この「入口」はEDRの守備範囲外で、脆弱性検査で事前に塞ぐ領域。</a:t>
            </a:r>
            <a:endParaRPr lang="en-US" sz="1350" dirty="0"/>
          </a:p>
        </p:txBody>
      </p:sp>
      <p:sp>
        <p:nvSpPr>
          <p:cNvPr id="8" name="Shape 6"/>
          <p:cNvSpPr/>
          <p:nvPr/>
        </p:nvSpPr>
        <p:spPr>
          <a:xfrm>
            <a:off x="4343400" y="1874520"/>
            <a:ext cx="3502152" cy="3977640"/>
          </a:xfrm>
          <a:prstGeom prst="roundRect">
            <a:avLst>
              <a:gd name="adj" fmla="val 235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9" name="Text 7"/>
          <p:cNvSpPr/>
          <p:nvPr/>
        </p:nvSpPr>
        <p:spPr>
          <a:xfrm>
            <a:off x="4617720" y="2103120"/>
            <a:ext cx="1828800" cy="822960"/>
          </a:xfrm>
          <a:prstGeom prst="rect">
            <a:avLst/>
          </a:prstGeom>
          <a:noFill/>
          <a:ln/>
        </p:spPr>
        <p:txBody>
          <a:bodyPr wrap="square" lIns="0" tIns="0" rIns="0" bIns="0" rtlCol="0" anchor="ctr"/>
          <a:lstStyle/>
          <a:p>
            <a:pPr indent="0" marL="0">
              <a:buNone/>
            </a:pPr>
            <a:r>
              <a:rPr lang="en-US" sz="4600" b="1" dirty="0">
                <a:solidFill>
                  <a:srgbClr val="3E5C76"/>
                </a:solidFill>
                <a:latin typeface="Cambria" pitchFamily="34" charset="0"/>
                <a:ea typeface="Cambria" pitchFamily="34" charset="-122"/>
                <a:cs typeface="Cambria" pitchFamily="34" charset="-120"/>
              </a:rPr>
              <a:t>02</a:t>
            </a:r>
            <a:endParaRPr lang="en-US" sz="4600" dirty="0"/>
          </a:p>
        </p:txBody>
      </p:sp>
      <p:sp>
        <p:nvSpPr>
          <p:cNvPr id="10" name="Text 8"/>
          <p:cNvSpPr/>
          <p:nvPr/>
        </p:nvSpPr>
        <p:spPr>
          <a:xfrm>
            <a:off x="4617720" y="3035808"/>
            <a:ext cx="2953512" cy="685800"/>
          </a:xfrm>
          <a:prstGeom prst="rect">
            <a:avLst/>
          </a:prstGeom>
          <a:noFill/>
          <a:ln/>
        </p:spPr>
        <p:txBody>
          <a:bodyPr wrap="square" lIns="0" tIns="0" rIns="0" bIns="0" rtlCol="0" anchor="t"/>
          <a:lstStyle/>
          <a:p>
            <a:pPr indent="0" marL="0">
              <a:buNone/>
            </a:pPr>
            <a:r>
              <a:rPr lang="en-US" sz="2000" b="1" dirty="0">
                <a:solidFill>
                  <a:srgbClr val="0E1B3D"/>
                </a:solidFill>
                <a:latin typeface="Cambria" pitchFamily="34" charset="0"/>
                <a:ea typeface="Cambria" pitchFamily="34" charset="-122"/>
                <a:cs typeface="Cambria" pitchFamily="34" charset="-120"/>
              </a:rPr>
              <a:t>ランサムは「最後」に動く</a:t>
            </a:r>
            <a:endParaRPr lang="en-US" sz="2000" dirty="0"/>
          </a:p>
        </p:txBody>
      </p:sp>
      <p:sp>
        <p:nvSpPr>
          <p:cNvPr id="11" name="Text 9"/>
          <p:cNvSpPr/>
          <p:nvPr/>
        </p:nvSpPr>
        <p:spPr>
          <a:xfrm>
            <a:off x="4617720" y="3767328"/>
            <a:ext cx="2953512" cy="1920240"/>
          </a:xfrm>
          <a:prstGeom prst="rect">
            <a:avLst/>
          </a:prstGeom>
          <a:noFill/>
          <a:ln/>
        </p:spPr>
        <p:txBody>
          <a:bodyPr wrap="square" lIns="0" tIns="0" rIns="0" bIns="0" rtlCol="0" anchor="t"/>
          <a:lstStyle/>
          <a:p>
            <a:pPr indent="0" marL="0">
              <a:lnSpc>
                <a:spcPts val="2000"/>
              </a:lnSpc>
              <a:buNone/>
            </a:pPr>
            <a:r>
              <a:rPr lang="en-US" sz="1350" dirty="0">
                <a:solidFill>
                  <a:srgbClr val="1A2332"/>
                </a:solidFill>
                <a:latin typeface="Calibri" pitchFamily="34" charset="0"/>
                <a:ea typeface="Calibri" pitchFamily="34" charset="-122"/>
                <a:cs typeface="Calibri" pitchFamily="34" charset="-120"/>
              </a:rPr>
              <a:t>暗号化は侵入・乗っ取り・横展開・権限奪取をすべて済ませた後の最終工程。EDRが検知を狙う段階に来た時点で、既に深く入られている。</a:t>
            </a:r>
            <a:endParaRPr lang="en-US" sz="1350" dirty="0"/>
          </a:p>
        </p:txBody>
      </p:sp>
      <p:sp>
        <p:nvSpPr>
          <p:cNvPr id="12" name="Shape 10"/>
          <p:cNvSpPr/>
          <p:nvPr/>
        </p:nvSpPr>
        <p:spPr>
          <a:xfrm>
            <a:off x="8119872" y="1874520"/>
            <a:ext cx="3502152" cy="3977640"/>
          </a:xfrm>
          <a:prstGeom prst="roundRect">
            <a:avLst>
              <a:gd name="adj" fmla="val 235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3" name="Text 11"/>
          <p:cNvSpPr/>
          <p:nvPr/>
        </p:nvSpPr>
        <p:spPr>
          <a:xfrm>
            <a:off x="8394192" y="2103120"/>
            <a:ext cx="1828800" cy="822960"/>
          </a:xfrm>
          <a:prstGeom prst="rect">
            <a:avLst/>
          </a:prstGeom>
          <a:noFill/>
          <a:ln/>
        </p:spPr>
        <p:txBody>
          <a:bodyPr wrap="square" lIns="0" tIns="0" rIns="0" bIns="0" rtlCol="0" anchor="ctr"/>
          <a:lstStyle/>
          <a:p>
            <a:pPr indent="0" marL="0">
              <a:buNone/>
            </a:pPr>
            <a:r>
              <a:rPr lang="en-US" sz="4600" b="1" dirty="0">
                <a:solidFill>
                  <a:srgbClr val="8E0B20"/>
                </a:solidFill>
                <a:latin typeface="Cambria" pitchFamily="34" charset="0"/>
                <a:ea typeface="Cambria" pitchFamily="34" charset="-122"/>
                <a:cs typeface="Cambria" pitchFamily="34" charset="-120"/>
              </a:rPr>
              <a:t>03</a:t>
            </a:r>
            <a:endParaRPr lang="en-US" sz="4600" dirty="0"/>
          </a:p>
        </p:txBody>
      </p:sp>
      <p:sp>
        <p:nvSpPr>
          <p:cNvPr id="14" name="Text 12"/>
          <p:cNvSpPr/>
          <p:nvPr/>
        </p:nvSpPr>
        <p:spPr>
          <a:xfrm>
            <a:off x="8394192" y="3035808"/>
            <a:ext cx="2953512" cy="685800"/>
          </a:xfrm>
          <a:prstGeom prst="rect">
            <a:avLst/>
          </a:prstGeom>
          <a:noFill/>
          <a:ln/>
        </p:spPr>
        <p:txBody>
          <a:bodyPr wrap="square" lIns="0" tIns="0" rIns="0" bIns="0" rtlCol="0" anchor="t"/>
          <a:lstStyle/>
          <a:p>
            <a:pPr indent="0" marL="0">
              <a:buNone/>
            </a:pPr>
            <a:r>
              <a:rPr lang="en-US" sz="2000" b="1" dirty="0">
                <a:solidFill>
                  <a:srgbClr val="0E1B3D"/>
                </a:solidFill>
                <a:latin typeface="Cambria" pitchFamily="34" charset="0"/>
                <a:ea typeface="Cambria" pitchFamily="34" charset="-122"/>
                <a:cs typeface="Cambria" pitchFamily="34" charset="-120"/>
              </a:rPr>
              <a:t>EDRは無効化されうる</a:t>
            </a:r>
            <a:endParaRPr lang="en-US" sz="2000" dirty="0"/>
          </a:p>
        </p:txBody>
      </p:sp>
      <p:sp>
        <p:nvSpPr>
          <p:cNvPr id="15" name="Text 13"/>
          <p:cNvSpPr/>
          <p:nvPr/>
        </p:nvSpPr>
        <p:spPr>
          <a:xfrm>
            <a:off x="8394192" y="3767328"/>
            <a:ext cx="2953512" cy="1920240"/>
          </a:xfrm>
          <a:prstGeom prst="rect">
            <a:avLst/>
          </a:prstGeom>
          <a:noFill/>
          <a:ln/>
        </p:spPr>
        <p:txBody>
          <a:bodyPr wrap="square" lIns="0" tIns="0" rIns="0" bIns="0" rtlCol="0" anchor="t"/>
          <a:lstStyle/>
          <a:p>
            <a:pPr indent="0" marL="0">
              <a:lnSpc>
                <a:spcPts val="2000"/>
              </a:lnSpc>
              <a:buNone/>
            </a:pPr>
            <a:r>
              <a:rPr lang="en-US" sz="1350" dirty="0">
                <a:solidFill>
                  <a:srgbClr val="1A2332"/>
                </a:solidFill>
                <a:latin typeface="Calibri" pitchFamily="34" charset="0"/>
                <a:ea typeface="Calibri" pitchFamily="34" charset="-122"/>
                <a:cs typeface="Calibri" pitchFamily="34" charset="-120"/>
              </a:rPr>
              <a:t>実際にSentinelOneを停止させてランサムを展開した攻撃が確認済み。IR事例の約50%でセキュリティソフトが無効化されていた。</a:t>
            </a:r>
            <a:endParaRPr lang="en-US" sz="1350" dirty="0"/>
          </a:p>
        </p:txBody>
      </p:sp>
      <p:sp>
        <p:nvSpPr>
          <p:cNvPr id="16" name="Text 14"/>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認識のギャップ</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「S-1を入れたから安心」— どこがズレているか</a:t>
            </a:r>
            <a:endParaRPr lang="en-US" sz="3200" dirty="0"/>
          </a:p>
        </p:txBody>
      </p:sp>
      <p:sp>
        <p:nvSpPr>
          <p:cNvPr id="4" name="Shape 2"/>
          <p:cNvSpPr/>
          <p:nvPr/>
        </p:nvSpPr>
        <p:spPr>
          <a:xfrm>
            <a:off x="566928" y="1874520"/>
            <a:ext cx="5298948" cy="4114800"/>
          </a:xfrm>
          <a:prstGeom prst="roundRect">
            <a:avLst>
              <a:gd name="adj" fmla="val 2000"/>
            </a:avLst>
          </a:prstGeom>
          <a:solidFill>
            <a:srgbClr val="FBEDEF"/>
          </a:solidFill>
          <a:ln w="12700">
            <a:solidFill>
              <a:srgbClr val="E7B9C1"/>
            </a:solidFill>
            <a:prstDash val="solid"/>
          </a:ln>
        </p:spPr>
      </p:sp>
      <p:sp>
        <p:nvSpPr>
          <p:cNvPr id="5" name="Text 3"/>
          <p:cNvSpPr/>
          <p:nvPr/>
        </p:nvSpPr>
        <p:spPr>
          <a:xfrm>
            <a:off x="886968" y="2084832"/>
            <a:ext cx="4658868" cy="457200"/>
          </a:xfrm>
          <a:prstGeom prst="rect">
            <a:avLst/>
          </a:prstGeom>
          <a:noFill/>
          <a:ln/>
        </p:spPr>
        <p:txBody>
          <a:bodyPr wrap="square" lIns="0" tIns="0" rIns="0" bIns="0" rtlCol="0" anchor="ctr"/>
          <a:lstStyle/>
          <a:p>
            <a:pPr indent="0" marL="0">
              <a:buNone/>
            </a:pPr>
            <a:r>
              <a:rPr lang="en-US" sz="1900" b="1" dirty="0">
                <a:solidFill>
                  <a:srgbClr val="8E0B20"/>
                </a:solidFill>
                <a:latin typeface="Cambria" pitchFamily="34" charset="0"/>
                <a:ea typeface="Cambria" pitchFamily="34" charset="-122"/>
                <a:cs typeface="Cambria" pitchFamily="34" charset="-120"/>
              </a:rPr>
              <a:t>よくある認識（誤解）</a:t>
            </a:r>
            <a:endParaRPr lang="en-US" sz="1900" dirty="0"/>
          </a:p>
        </p:txBody>
      </p:sp>
      <p:sp>
        <p:nvSpPr>
          <p:cNvPr id="6" name="Text 4"/>
          <p:cNvSpPr/>
          <p:nvPr/>
        </p:nvSpPr>
        <p:spPr>
          <a:xfrm>
            <a:off x="886968" y="2697480"/>
            <a:ext cx="4658868" cy="3108960"/>
          </a:xfrm>
          <a:prstGeom prst="rect">
            <a:avLst/>
          </a:prstGeom>
          <a:noFill/>
          <a:ln/>
        </p:spPr>
        <p:txBody>
          <a:bodyPr wrap="square" lIns="0" tIns="0" rIns="0" bIns="0" rtlCol="0" anchor="t"/>
          <a:lstStyle/>
          <a:p>
            <a:pPr marL="342900" indent="-342900">
              <a:lnSpc>
                <a:spcPts val="2200"/>
              </a:lnSpc>
              <a:spcAft>
                <a:spcPts val="1400"/>
              </a:spcAft>
              <a:buSzPct val="100000"/>
              <a:buChar char="✗"/>
            </a:pPr>
            <a:r>
              <a:rPr lang="en-US" sz="1550" dirty="0">
                <a:solidFill>
                  <a:srgbClr val="8E0B20"/>
                </a:solidFill>
                <a:latin typeface="Calibri" pitchFamily="34" charset="0"/>
                <a:ea typeface="Calibri" pitchFamily="34" charset="-122"/>
                <a:cs typeface="Calibri" pitchFamily="34" charset="-120"/>
              </a:rPr>
              <a:t>EDR(S-1)を入れたので、もう感染しない</a:t>
            </a:r>
            <a:endParaRPr lang="en-US" sz="1550" dirty="0"/>
          </a:p>
          <a:p>
            <a:pPr marL="342900" indent="-342900">
              <a:lnSpc>
                <a:spcPts val="2200"/>
              </a:lnSpc>
              <a:spcAft>
                <a:spcPts val="1400"/>
              </a:spcAft>
              <a:buSzPct val="100000"/>
              <a:buChar char="✗"/>
            </a:pPr>
            <a:r>
              <a:rPr lang="en-US" sz="1550" dirty="0">
                <a:solidFill>
                  <a:srgbClr val="8E0B20"/>
                </a:solidFill>
                <a:latin typeface="Calibri" pitchFamily="34" charset="0"/>
                <a:ea typeface="Calibri" pitchFamily="34" charset="-122"/>
                <a:cs typeface="Calibri" pitchFamily="34" charset="-120"/>
              </a:rPr>
              <a:t>検知・駆除してくれるから脆弱性は放置でよい</a:t>
            </a:r>
            <a:endParaRPr lang="en-US" sz="1550" dirty="0"/>
          </a:p>
          <a:p>
            <a:pPr marL="342900" indent="-342900">
              <a:lnSpc>
                <a:spcPts val="2200"/>
              </a:lnSpc>
              <a:spcAft>
                <a:spcPts val="1400"/>
              </a:spcAft>
              <a:buSzPct val="100000"/>
              <a:buChar char="✗"/>
            </a:pPr>
            <a:r>
              <a:rPr lang="en-US" sz="1550" dirty="0">
                <a:solidFill>
                  <a:srgbClr val="8E0B20"/>
                </a:solidFill>
                <a:latin typeface="Calibri" pitchFamily="34" charset="0"/>
                <a:ea typeface="Calibri" pitchFamily="34" charset="-122"/>
                <a:cs typeface="Calibri" pitchFamily="34" charset="-120"/>
              </a:rPr>
              <a:t>脆弱性検査はEDRと重複するコストだ</a:t>
            </a:r>
            <a:endParaRPr lang="en-US" sz="1550" dirty="0"/>
          </a:p>
          <a:p>
            <a:pPr marL="342900" indent="-342900">
              <a:lnSpc>
                <a:spcPts val="2200"/>
              </a:lnSpc>
              <a:spcAft>
                <a:spcPts val="1400"/>
              </a:spcAft>
              <a:buSzPct val="100000"/>
              <a:buChar char="✗"/>
            </a:pPr>
            <a:r>
              <a:rPr lang="en-US" sz="1550" dirty="0">
                <a:solidFill>
                  <a:srgbClr val="8E0B20"/>
                </a:solidFill>
                <a:latin typeface="Calibri" pitchFamily="34" charset="0"/>
                <a:ea typeface="Calibri" pitchFamily="34" charset="-122"/>
                <a:cs typeface="Calibri" pitchFamily="34" charset="-120"/>
              </a:rPr>
              <a:t>被害はマルウェアが動いた瞬間に起きる</a:t>
            </a:r>
            <a:endParaRPr lang="en-US" sz="1550" dirty="0"/>
          </a:p>
        </p:txBody>
      </p:sp>
      <p:sp>
        <p:nvSpPr>
          <p:cNvPr id="7" name="Shape 5"/>
          <p:cNvSpPr/>
          <p:nvPr/>
        </p:nvSpPr>
        <p:spPr>
          <a:xfrm>
            <a:off x="6323076" y="1874520"/>
            <a:ext cx="5298948" cy="4114800"/>
          </a:xfrm>
          <a:prstGeom prst="roundRect">
            <a:avLst>
              <a:gd name="adj" fmla="val 2000"/>
            </a:avLst>
          </a:prstGeom>
          <a:solidFill>
            <a:srgbClr val="EAF3EC"/>
          </a:solidFill>
          <a:ln w="12700">
            <a:solidFill>
              <a:srgbClr val="B9D6C1"/>
            </a:solidFill>
            <a:prstDash val="solid"/>
          </a:ln>
        </p:spPr>
      </p:sp>
      <p:sp>
        <p:nvSpPr>
          <p:cNvPr id="8" name="Text 6"/>
          <p:cNvSpPr/>
          <p:nvPr/>
        </p:nvSpPr>
        <p:spPr>
          <a:xfrm>
            <a:off x="6643116" y="2084832"/>
            <a:ext cx="4658868" cy="457200"/>
          </a:xfrm>
          <a:prstGeom prst="rect">
            <a:avLst/>
          </a:prstGeom>
          <a:noFill/>
          <a:ln/>
        </p:spPr>
        <p:txBody>
          <a:bodyPr wrap="square" lIns="0" tIns="0" rIns="0" bIns="0" rtlCol="0" anchor="ctr"/>
          <a:lstStyle/>
          <a:p>
            <a:pPr indent="0" marL="0">
              <a:buNone/>
            </a:pPr>
            <a:r>
              <a:rPr lang="en-US" sz="1900" b="1" dirty="0">
                <a:solidFill>
                  <a:srgbClr val="1E7A46"/>
                </a:solidFill>
                <a:latin typeface="Cambria" pitchFamily="34" charset="0"/>
                <a:ea typeface="Cambria" pitchFamily="34" charset="-122"/>
                <a:cs typeface="Cambria" pitchFamily="34" charset="-120"/>
              </a:rPr>
              <a:t>実際に起きていること（事実）</a:t>
            </a:r>
            <a:endParaRPr lang="en-US" sz="1900" dirty="0"/>
          </a:p>
        </p:txBody>
      </p:sp>
      <p:sp>
        <p:nvSpPr>
          <p:cNvPr id="9" name="Text 7"/>
          <p:cNvSpPr/>
          <p:nvPr/>
        </p:nvSpPr>
        <p:spPr>
          <a:xfrm>
            <a:off x="6643116" y="2697480"/>
            <a:ext cx="4658868" cy="3108960"/>
          </a:xfrm>
          <a:prstGeom prst="rect">
            <a:avLst/>
          </a:prstGeom>
          <a:noFill/>
          <a:ln/>
        </p:spPr>
        <p:txBody>
          <a:bodyPr wrap="square" lIns="0" tIns="0" rIns="0" bIns="0" rtlCol="0" anchor="t"/>
          <a:lstStyle/>
          <a:p>
            <a:pPr marL="342900" indent="-342900">
              <a:lnSpc>
                <a:spcPts val="2200"/>
              </a:lnSpc>
              <a:spcAft>
                <a:spcPts val="1400"/>
              </a:spcAft>
              <a:buSzPct val="100000"/>
              <a:buChar char="✓"/>
            </a:pPr>
            <a:r>
              <a:rPr lang="en-US" sz="1550" dirty="0">
                <a:solidFill>
                  <a:srgbClr val="1E7A46"/>
                </a:solidFill>
                <a:latin typeface="Calibri" pitchFamily="34" charset="0"/>
                <a:ea typeface="Calibri" pitchFamily="34" charset="-122"/>
                <a:cs typeface="Calibri" pitchFamily="34" charset="-120"/>
              </a:rPr>
              <a:t>S-1導入済みでもランサム被害は多発（アサヒ・アスクル 等）</a:t>
            </a:r>
            <a:endParaRPr lang="en-US" sz="1550" dirty="0"/>
          </a:p>
          <a:p>
            <a:pPr marL="342900" indent="-342900">
              <a:lnSpc>
                <a:spcPts val="2200"/>
              </a:lnSpc>
              <a:spcAft>
                <a:spcPts val="1400"/>
              </a:spcAft>
              <a:buSzPct val="100000"/>
              <a:buChar char="✓"/>
            </a:pPr>
            <a:r>
              <a:rPr lang="en-US" sz="1550" dirty="0">
                <a:solidFill>
                  <a:srgbClr val="1E7A46"/>
                </a:solidFill>
                <a:latin typeface="Calibri" pitchFamily="34" charset="0"/>
                <a:ea typeface="Calibri" pitchFamily="34" charset="-122"/>
                <a:cs typeface="Calibri" pitchFamily="34" charset="-120"/>
              </a:rPr>
              <a:t>攻撃者はS-1自体を無効化してから暗号化する</a:t>
            </a:r>
            <a:endParaRPr lang="en-US" sz="1550" dirty="0"/>
          </a:p>
          <a:p>
            <a:pPr marL="342900" indent="-342900">
              <a:lnSpc>
                <a:spcPts val="2200"/>
              </a:lnSpc>
              <a:spcAft>
                <a:spcPts val="1400"/>
              </a:spcAft>
              <a:buSzPct val="100000"/>
              <a:buChar char="✓"/>
            </a:pPr>
            <a:r>
              <a:rPr lang="en-US" sz="1550" dirty="0">
                <a:solidFill>
                  <a:srgbClr val="1E7A46"/>
                </a:solidFill>
                <a:latin typeface="Calibri" pitchFamily="34" charset="0"/>
                <a:ea typeface="Calibri" pitchFamily="34" charset="-122"/>
                <a:cs typeface="Calibri" pitchFamily="34" charset="-120"/>
              </a:rPr>
              <a:t>EDRは「内側」、脆弱性検査は「入口」— 守る層が違う</a:t>
            </a:r>
            <a:endParaRPr lang="en-US" sz="1550" dirty="0"/>
          </a:p>
          <a:p>
            <a:pPr marL="342900" indent="-342900">
              <a:lnSpc>
                <a:spcPts val="2200"/>
              </a:lnSpc>
              <a:spcAft>
                <a:spcPts val="1400"/>
              </a:spcAft>
              <a:buSzPct val="100000"/>
              <a:buChar char="✓"/>
            </a:pPr>
            <a:r>
              <a:rPr lang="en-US" sz="1550" dirty="0">
                <a:solidFill>
                  <a:srgbClr val="1E7A46"/>
                </a:solidFill>
                <a:latin typeface="Calibri" pitchFamily="34" charset="0"/>
                <a:ea typeface="Calibri" pitchFamily="34" charset="-122"/>
                <a:cs typeface="Calibri" pitchFamily="34" charset="-120"/>
              </a:rPr>
              <a:t>被害は侵入・乗っ取りの数週間〜数か月後に起きる</a:t>
            </a:r>
            <a:endParaRPr lang="en-US" sz="1550" dirty="0"/>
          </a:p>
        </p:txBody>
      </p:sp>
      <p:sp>
        <p:nvSpPr>
          <p:cNvPr id="10" name="Text 8"/>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攻撃の実態</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ランサムは「侵入の後」に動く ― 侵入型攻撃の4段階</a:t>
            </a:r>
            <a:endParaRPr lang="en-US" sz="3200" dirty="0"/>
          </a:p>
        </p:txBody>
      </p:sp>
      <p:sp>
        <p:nvSpPr>
          <p:cNvPr id="4" name="Shape 2"/>
          <p:cNvSpPr/>
          <p:nvPr/>
        </p:nvSpPr>
        <p:spPr>
          <a:xfrm>
            <a:off x="566928" y="2286000"/>
            <a:ext cx="2475738" cy="2331720"/>
          </a:xfrm>
          <a:prstGeom prst="roundRect">
            <a:avLst>
              <a:gd name="adj" fmla="val 313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5" name="Shape 3"/>
          <p:cNvSpPr/>
          <p:nvPr/>
        </p:nvSpPr>
        <p:spPr>
          <a:xfrm>
            <a:off x="822960" y="2514600"/>
            <a:ext cx="640080" cy="640080"/>
          </a:xfrm>
          <a:prstGeom prst="ellipse">
            <a:avLst/>
          </a:prstGeom>
          <a:solidFill>
            <a:srgbClr val="C8102E"/>
          </a:solidFill>
          <a:ln/>
        </p:spPr>
      </p:sp>
      <p:sp>
        <p:nvSpPr>
          <p:cNvPr id="6" name="Text 4"/>
          <p:cNvSpPr/>
          <p:nvPr/>
        </p:nvSpPr>
        <p:spPr>
          <a:xfrm>
            <a:off x="822960" y="25146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768096" y="3310128"/>
            <a:ext cx="2073402" cy="658368"/>
          </a:xfrm>
          <a:prstGeom prst="rect">
            <a:avLst/>
          </a:prstGeom>
          <a:noFill/>
          <a:ln/>
        </p:spPr>
        <p:txBody>
          <a:bodyPr wrap="square" lIns="0" tIns="0" rIns="0" bIns="0" rtlCol="0" anchor="t"/>
          <a:lstStyle/>
          <a:p>
            <a:pPr indent="0" marL="0">
              <a:lnSpc>
                <a:spcPts val="1900"/>
              </a:lnSpc>
              <a:buNone/>
            </a:pPr>
            <a:r>
              <a:rPr lang="en-US" sz="1600" b="1" dirty="0">
                <a:solidFill>
                  <a:srgbClr val="0E1B3D"/>
                </a:solidFill>
                <a:latin typeface="Cambria" pitchFamily="34" charset="0"/>
                <a:ea typeface="Cambria" pitchFamily="34" charset="-122"/>
                <a:cs typeface="Cambria" pitchFamily="34" charset="-120"/>
              </a:rPr>
              <a:t>初期侵入</a:t>
            </a:r>
            <a:endParaRPr lang="en-US" sz="1600" dirty="0"/>
          </a:p>
        </p:txBody>
      </p:sp>
      <p:sp>
        <p:nvSpPr>
          <p:cNvPr id="8" name="Text 6"/>
          <p:cNvSpPr/>
          <p:nvPr/>
        </p:nvSpPr>
        <p:spPr>
          <a:xfrm>
            <a:off x="768096" y="3931920"/>
            <a:ext cx="2073402" cy="640080"/>
          </a:xfrm>
          <a:prstGeom prst="rect">
            <a:avLst/>
          </a:prstGeom>
          <a:noFill/>
          <a:ln/>
        </p:spPr>
        <p:txBody>
          <a:bodyPr wrap="square" lIns="0" tIns="0" rIns="0" bIns="0" rtlCol="0" anchor="t"/>
          <a:lstStyle/>
          <a:p>
            <a:pPr indent="0" marL="0">
              <a:lnSpc>
                <a:spcPts val="1500"/>
              </a:lnSpc>
              <a:buNone/>
            </a:pPr>
            <a:r>
              <a:rPr lang="en-US" sz="1150" dirty="0">
                <a:solidFill>
                  <a:srgbClr val="1A2332"/>
                </a:solidFill>
                <a:latin typeface="Calibri" pitchFamily="34" charset="0"/>
                <a:ea typeface="Calibri" pitchFamily="34" charset="-122"/>
                <a:cs typeface="Calibri" pitchFamily="34" charset="-120"/>
              </a:rPr>
              <a:t>VPN/公開サーバの脆弱性、盗んだ正規アカウントで侵入</a:t>
            </a:r>
            <a:endParaRPr lang="en-US" sz="1150" dirty="0"/>
          </a:p>
        </p:txBody>
      </p:sp>
      <p:sp>
        <p:nvSpPr>
          <p:cNvPr id="9" name="Shape 7"/>
          <p:cNvSpPr/>
          <p:nvPr/>
        </p:nvSpPr>
        <p:spPr>
          <a:xfrm>
            <a:off x="3426714" y="2286000"/>
            <a:ext cx="2475738" cy="2331720"/>
          </a:xfrm>
          <a:prstGeom prst="roundRect">
            <a:avLst>
              <a:gd name="adj" fmla="val 313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0" name="Shape 8"/>
          <p:cNvSpPr/>
          <p:nvPr/>
        </p:nvSpPr>
        <p:spPr>
          <a:xfrm>
            <a:off x="3682746" y="2514600"/>
            <a:ext cx="640080" cy="640080"/>
          </a:xfrm>
          <a:prstGeom prst="ellipse">
            <a:avLst/>
          </a:prstGeom>
          <a:solidFill>
            <a:srgbClr val="3E5C76"/>
          </a:solidFill>
          <a:ln/>
        </p:spPr>
      </p:sp>
      <p:sp>
        <p:nvSpPr>
          <p:cNvPr id="11" name="Text 9"/>
          <p:cNvSpPr/>
          <p:nvPr/>
        </p:nvSpPr>
        <p:spPr>
          <a:xfrm>
            <a:off x="3682746" y="25146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3627882" y="3310128"/>
            <a:ext cx="2073402" cy="658368"/>
          </a:xfrm>
          <a:prstGeom prst="rect">
            <a:avLst/>
          </a:prstGeom>
          <a:noFill/>
          <a:ln/>
        </p:spPr>
        <p:txBody>
          <a:bodyPr wrap="square" lIns="0" tIns="0" rIns="0" bIns="0" rtlCol="0" anchor="t"/>
          <a:lstStyle/>
          <a:p>
            <a:pPr indent="0" marL="0">
              <a:lnSpc>
                <a:spcPts val="1900"/>
              </a:lnSpc>
              <a:buNone/>
            </a:pPr>
            <a:r>
              <a:rPr lang="en-US" sz="1600" b="1" dirty="0">
                <a:solidFill>
                  <a:srgbClr val="0E1B3D"/>
                </a:solidFill>
                <a:latin typeface="Cambria" pitchFamily="34" charset="0"/>
                <a:ea typeface="Cambria" pitchFamily="34" charset="-122"/>
                <a:cs typeface="Cambria" pitchFamily="34" charset="-120"/>
              </a:rPr>
              <a:t>探索</a:t>
            </a:r>
            <a:endParaRPr lang="en-US" sz="1600" dirty="0"/>
          </a:p>
        </p:txBody>
      </p:sp>
      <p:sp>
        <p:nvSpPr>
          <p:cNvPr id="13" name="Text 11"/>
          <p:cNvSpPr/>
          <p:nvPr/>
        </p:nvSpPr>
        <p:spPr>
          <a:xfrm>
            <a:off x="3627882" y="3931920"/>
            <a:ext cx="2073402" cy="640080"/>
          </a:xfrm>
          <a:prstGeom prst="rect">
            <a:avLst/>
          </a:prstGeom>
          <a:noFill/>
          <a:ln/>
        </p:spPr>
        <p:txBody>
          <a:bodyPr wrap="square" lIns="0" tIns="0" rIns="0" bIns="0" rtlCol="0" anchor="t"/>
          <a:lstStyle/>
          <a:p>
            <a:pPr indent="0" marL="0">
              <a:lnSpc>
                <a:spcPts val="1500"/>
              </a:lnSpc>
              <a:buNone/>
            </a:pPr>
            <a:r>
              <a:rPr lang="en-US" sz="1150" dirty="0">
                <a:solidFill>
                  <a:srgbClr val="1A2332"/>
                </a:solidFill>
                <a:latin typeface="Calibri" pitchFamily="34" charset="0"/>
                <a:ea typeface="Calibri" pitchFamily="34" charset="-122"/>
                <a:cs typeface="Calibri" pitchFamily="34" charset="-120"/>
              </a:rPr>
              <a:t>社内をひそかに偵察。数週間〜数か月潜伏することも</a:t>
            </a:r>
            <a:endParaRPr lang="en-US" sz="1150" dirty="0"/>
          </a:p>
        </p:txBody>
      </p:sp>
      <p:sp>
        <p:nvSpPr>
          <p:cNvPr id="14" name="Shape 12"/>
          <p:cNvSpPr/>
          <p:nvPr/>
        </p:nvSpPr>
        <p:spPr>
          <a:xfrm>
            <a:off x="6286500" y="2286000"/>
            <a:ext cx="2475738" cy="2331720"/>
          </a:xfrm>
          <a:prstGeom prst="roundRect">
            <a:avLst>
              <a:gd name="adj" fmla="val 313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5" name="Shape 13"/>
          <p:cNvSpPr/>
          <p:nvPr/>
        </p:nvSpPr>
        <p:spPr>
          <a:xfrm>
            <a:off x="6542532" y="2514600"/>
            <a:ext cx="640080" cy="640080"/>
          </a:xfrm>
          <a:prstGeom prst="ellipse">
            <a:avLst/>
          </a:prstGeom>
          <a:solidFill>
            <a:srgbClr val="3E5C76"/>
          </a:solidFill>
          <a:ln/>
        </p:spPr>
      </p:sp>
      <p:sp>
        <p:nvSpPr>
          <p:cNvPr id="16" name="Text 14"/>
          <p:cNvSpPr/>
          <p:nvPr/>
        </p:nvSpPr>
        <p:spPr>
          <a:xfrm>
            <a:off x="6542532" y="25146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6487668" y="3310128"/>
            <a:ext cx="2073402" cy="658368"/>
          </a:xfrm>
          <a:prstGeom prst="rect">
            <a:avLst/>
          </a:prstGeom>
          <a:noFill/>
          <a:ln/>
        </p:spPr>
        <p:txBody>
          <a:bodyPr wrap="square" lIns="0" tIns="0" rIns="0" bIns="0" rtlCol="0" anchor="t"/>
          <a:lstStyle/>
          <a:p>
            <a:pPr indent="0" marL="0">
              <a:lnSpc>
                <a:spcPts val="1900"/>
              </a:lnSpc>
              <a:buNone/>
            </a:pPr>
            <a:r>
              <a:rPr lang="en-US" sz="1600" b="1" dirty="0">
                <a:solidFill>
                  <a:srgbClr val="0E1B3D"/>
                </a:solidFill>
                <a:latin typeface="Cambria" pitchFamily="34" charset="0"/>
                <a:ea typeface="Cambria" pitchFamily="34" charset="-122"/>
                <a:cs typeface="Cambria" pitchFamily="34" charset="-120"/>
              </a:rPr>
              <a:t>横展開・権限奪取</a:t>
            </a:r>
            <a:endParaRPr lang="en-US" sz="1600" dirty="0"/>
          </a:p>
        </p:txBody>
      </p:sp>
      <p:sp>
        <p:nvSpPr>
          <p:cNvPr id="18" name="Text 16"/>
          <p:cNvSpPr/>
          <p:nvPr/>
        </p:nvSpPr>
        <p:spPr>
          <a:xfrm>
            <a:off x="6487668" y="3931920"/>
            <a:ext cx="2073402" cy="640080"/>
          </a:xfrm>
          <a:prstGeom prst="rect">
            <a:avLst/>
          </a:prstGeom>
          <a:noFill/>
          <a:ln/>
        </p:spPr>
        <p:txBody>
          <a:bodyPr wrap="square" lIns="0" tIns="0" rIns="0" bIns="0" rtlCol="0" anchor="t"/>
          <a:lstStyle/>
          <a:p>
            <a:pPr indent="0" marL="0">
              <a:lnSpc>
                <a:spcPts val="1500"/>
              </a:lnSpc>
              <a:buNone/>
            </a:pPr>
            <a:r>
              <a:rPr lang="en-US" sz="1150" dirty="0">
                <a:solidFill>
                  <a:srgbClr val="1A2332"/>
                </a:solidFill>
                <a:latin typeface="Calibri" pitchFamily="34" charset="0"/>
                <a:ea typeface="Calibri" pitchFamily="34" charset="-122"/>
                <a:cs typeface="Calibri" pitchFamily="34" charset="-120"/>
              </a:rPr>
              <a:t>Active Directory を標的に管理者権限を奪い拡散</a:t>
            </a:r>
            <a:endParaRPr lang="en-US" sz="1150" dirty="0"/>
          </a:p>
        </p:txBody>
      </p:sp>
      <p:sp>
        <p:nvSpPr>
          <p:cNvPr id="19" name="Shape 17"/>
          <p:cNvSpPr/>
          <p:nvPr/>
        </p:nvSpPr>
        <p:spPr>
          <a:xfrm>
            <a:off x="9146286" y="2286000"/>
            <a:ext cx="2475738" cy="2331720"/>
          </a:xfrm>
          <a:prstGeom prst="roundRect">
            <a:avLst>
              <a:gd name="adj" fmla="val 313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20" name="Shape 18"/>
          <p:cNvSpPr/>
          <p:nvPr/>
        </p:nvSpPr>
        <p:spPr>
          <a:xfrm>
            <a:off x="9402318" y="2514600"/>
            <a:ext cx="640080" cy="640080"/>
          </a:xfrm>
          <a:prstGeom prst="ellipse">
            <a:avLst/>
          </a:prstGeom>
          <a:solidFill>
            <a:srgbClr val="8E0B20"/>
          </a:solidFill>
          <a:ln/>
        </p:spPr>
      </p:sp>
      <p:sp>
        <p:nvSpPr>
          <p:cNvPr id="21" name="Text 19"/>
          <p:cNvSpPr/>
          <p:nvPr/>
        </p:nvSpPr>
        <p:spPr>
          <a:xfrm>
            <a:off x="9402318" y="25146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2" name="Text 20"/>
          <p:cNvSpPr/>
          <p:nvPr/>
        </p:nvSpPr>
        <p:spPr>
          <a:xfrm>
            <a:off x="9347454" y="3310128"/>
            <a:ext cx="2073402" cy="658368"/>
          </a:xfrm>
          <a:prstGeom prst="rect">
            <a:avLst/>
          </a:prstGeom>
          <a:noFill/>
          <a:ln/>
        </p:spPr>
        <p:txBody>
          <a:bodyPr wrap="square" lIns="0" tIns="0" rIns="0" bIns="0" rtlCol="0" anchor="t"/>
          <a:lstStyle/>
          <a:p>
            <a:pPr indent="0" marL="0">
              <a:lnSpc>
                <a:spcPts val="1900"/>
              </a:lnSpc>
              <a:buNone/>
            </a:pPr>
            <a:r>
              <a:rPr lang="en-US" sz="1600" b="1" dirty="0">
                <a:solidFill>
                  <a:srgbClr val="0E1B3D"/>
                </a:solidFill>
                <a:latin typeface="Cambria" pitchFamily="34" charset="0"/>
                <a:ea typeface="Cambria" pitchFamily="34" charset="-122"/>
                <a:cs typeface="Cambria" pitchFamily="34" charset="-120"/>
              </a:rPr>
              <a:t>EDR無効化 → 暗号化・恐喝</a:t>
            </a:r>
            <a:endParaRPr lang="en-US" sz="1600" dirty="0"/>
          </a:p>
        </p:txBody>
      </p:sp>
      <p:sp>
        <p:nvSpPr>
          <p:cNvPr id="23" name="Text 21"/>
          <p:cNvSpPr/>
          <p:nvPr/>
        </p:nvSpPr>
        <p:spPr>
          <a:xfrm>
            <a:off x="9347454" y="3931920"/>
            <a:ext cx="2073402" cy="640080"/>
          </a:xfrm>
          <a:prstGeom prst="rect">
            <a:avLst/>
          </a:prstGeom>
          <a:noFill/>
          <a:ln/>
        </p:spPr>
        <p:txBody>
          <a:bodyPr wrap="square" lIns="0" tIns="0" rIns="0" bIns="0" rtlCol="0" anchor="t"/>
          <a:lstStyle/>
          <a:p>
            <a:pPr indent="0" marL="0">
              <a:lnSpc>
                <a:spcPts val="1500"/>
              </a:lnSpc>
              <a:buNone/>
            </a:pPr>
            <a:r>
              <a:rPr lang="en-US" sz="1150" dirty="0">
                <a:solidFill>
                  <a:srgbClr val="1A2332"/>
                </a:solidFill>
                <a:latin typeface="Calibri" pitchFamily="34" charset="0"/>
                <a:ea typeface="Calibri" pitchFamily="34" charset="-122"/>
                <a:cs typeface="Calibri" pitchFamily="34" charset="-120"/>
              </a:rPr>
              <a:t>S-1等を停止し、データ窃取後に一斉暗号化</a:t>
            </a:r>
            <a:endParaRPr lang="en-US" sz="1150" dirty="0"/>
          </a:p>
        </p:txBody>
      </p:sp>
      <p:sp>
        <p:nvSpPr>
          <p:cNvPr id="24" name="Shape 22"/>
          <p:cNvSpPr/>
          <p:nvPr/>
        </p:nvSpPr>
        <p:spPr>
          <a:xfrm>
            <a:off x="3079242" y="3273552"/>
            <a:ext cx="310896" cy="365760"/>
          </a:xfrm>
          <a:prstGeom prst="rightArrow">
            <a:avLst/>
          </a:prstGeom>
          <a:solidFill>
            <a:srgbClr val="3E5C76"/>
          </a:solidFill>
          <a:ln/>
        </p:spPr>
      </p:sp>
      <p:sp>
        <p:nvSpPr>
          <p:cNvPr id="25" name="Shape 23"/>
          <p:cNvSpPr/>
          <p:nvPr/>
        </p:nvSpPr>
        <p:spPr>
          <a:xfrm>
            <a:off x="5939028" y="3273552"/>
            <a:ext cx="310896" cy="365760"/>
          </a:xfrm>
          <a:prstGeom prst="rightArrow">
            <a:avLst/>
          </a:prstGeom>
          <a:solidFill>
            <a:srgbClr val="3E5C76"/>
          </a:solidFill>
          <a:ln/>
        </p:spPr>
      </p:sp>
      <p:sp>
        <p:nvSpPr>
          <p:cNvPr id="26" name="Shape 24"/>
          <p:cNvSpPr/>
          <p:nvPr/>
        </p:nvSpPr>
        <p:spPr>
          <a:xfrm>
            <a:off x="8798814" y="3273552"/>
            <a:ext cx="310896" cy="365760"/>
          </a:xfrm>
          <a:prstGeom prst="rightArrow">
            <a:avLst/>
          </a:prstGeom>
          <a:solidFill>
            <a:srgbClr val="3E5C76"/>
          </a:solidFill>
          <a:ln/>
        </p:spPr>
      </p:sp>
      <p:sp>
        <p:nvSpPr>
          <p:cNvPr id="27" name="Shape 25"/>
          <p:cNvSpPr/>
          <p:nvPr/>
        </p:nvSpPr>
        <p:spPr>
          <a:xfrm>
            <a:off x="1804797" y="4645152"/>
            <a:ext cx="0" cy="109728"/>
          </a:xfrm>
          <a:prstGeom prst="line">
            <a:avLst/>
          </a:prstGeom>
          <a:noFill/>
          <a:ln w="25400">
            <a:solidFill>
              <a:srgbClr val="C8102E"/>
            </a:solidFill>
            <a:prstDash val="solid"/>
          </a:ln>
        </p:spPr>
      </p:sp>
      <p:sp>
        <p:nvSpPr>
          <p:cNvPr id="28" name="Text 26"/>
          <p:cNvSpPr/>
          <p:nvPr/>
        </p:nvSpPr>
        <p:spPr>
          <a:xfrm>
            <a:off x="566928" y="4754880"/>
            <a:ext cx="2475738" cy="365760"/>
          </a:xfrm>
          <a:prstGeom prst="rect">
            <a:avLst/>
          </a:prstGeom>
          <a:noFill/>
          <a:ln/>
        </p:spPr>
        <p:txBody>
          <a:bodyPr wrap="square" lIns="0" tIns="0" rIns="0" bIns="0" rtlCol="0" anchor="ctr"/>
          <a:lstStyle/>
          <a:p>
            <a:pPr algn="ctr" indent="0" marL="0">
              <a:buNone/>
            </a:pPr>
            <a:r>
              <a:rPr lang="en-US" sz="1200" b="1" dirty="0">
                <a:solidFill>
                  <a:srgbClr val="C8102E"/>
                </a:solidFill>
                <a:latin typeface="Calibri" pitchFamily="34" charset="0"/>
                <a:ea typeface="Calibri" pitchFamily="34" charset="-122"/>
                <a:cs typeface="Calibri" pitchFamily="34" charset="-120"/>
              </a:rPr>
              <a:t>脆弱性検査が守る入口</a:t>
            </a:r>
            <a:endParaRPr lang="en-US" sz="1200" dirty="0"/>
          </a:p>
        </p:txBody>
      </p:sp>
      <p:sp>
        <p:nvSpPr>
          <p:cNvPr id="29" name="Shape 27"/>
          <p:cNvSpPr/>
          <p:nvPr/>
        </p:nvSpPr>
        <p:spPr>
          <a:xfrm>
            <a:off x="10384155" y="4645152"/>
            <a:ext cx="0" cy="109728"/>
          </a:xfrm>
          <a:prstGeom prst="line">
            <a:avLst/>
          </a:prstGeom>
          <a:noFill/>
          <a:ln w="25400">
            <a:solidFill>
              <a:srgbClr val="8E0B20"/>
            </a:solidFill>
            <a:prstDash val="solid"/>
          </a:ln>
        </p:spPr>
      </p:sp>
      <p:sp>
        <p:nvSpPr>
          <p:cNvPr id="30" name="Text 28"/>
          <p:cNvSpPr/>
          <p:nvPr/>
        </p:nvSpPr>
        <p:spPr>
          <a:xfrm>
            <a:off x="8597646" y="4754880"/>
            <a:ext cx="3573018" cy="365760"/>
          </a:xfrm>
          <a:prstGeom prst="rect">
            <a:avLst/>
          </a:prstGeom>
          <a:noFill/>
          <a:ln/>
        </p:spPr>
        <p:txBody>
          <a:bodyPr wrap="square" lIns="0" tIns="0" rIns="0" bIns="0" rtlCol="0" anchor="ctr"/>
          <a:lstStyle/>
          <a:p>
            <a:pPr algn="ctr" indent="0" marL="0">
              <a:buNone/>
            </a:pPr>
            <a:r>
              <a:rPr lang="en-US" sz="1200" b="1" dirty="0">
                <a:solidFill>
                  <a:srgbClr val="8E0B20"/>
                </a:solidFill>
                <a:latin typeface="Calibri" pitchFamily="34" charset="0"/>
                <a:ea typeface="Calibri" pitchFamily="34" charset="-122"/>
                <a:cs typeface="Calibri" pitchFamily="34" charset="-120"/>
              </a:rPr>
              <a:t>EDR(S-1)が働くのは最終段階のみ</a:t>
            </a:r>
            <a:endParaRPr lang="en-US" sz="1200" dirty="0"/>
          </a:p>
        </p:txBody>
      </p:sp>
      <p:sp>
        <p:nvSpPr>
          <p:cNvPr id="31" name="Shape 29"/>
          <p:cNvSpPr/>
          <p:nvPr/>
        </p:nvSpPr>
        <p:spPr>
          <a:xfrm>
            <a:off x="566928" y="5440680"/>
            <a:ext cx="11055096" cy="868680"/>
          </a:xfrm>
          <a:prstGeom prst="roundRect">
            <a:avLst>
              <a:gd name="adj" fmla="val 8421"/>
            </a:avLst>
          </a:prstGeom>
          <a:solidFill>
            <a:srgbClr val="0E1B3D"/>
          </a:solidFill>
          <a:ln/>
        </p:spPr>
      </p:sp>
      <p:sp>
        <p:nvSpPr>
          <p:cNvPr id="32" name="Text 30"/>
          <p:cNvSpPr/>
          <p:nvPr/>
        </p:nvSpPr>
        <p:spPr>
          <a:xfrm>
            <a:off x="886968" y="5440680"/>
            <a:ext cx="10415016" cy="868680"/>
          </a:xfrm>
          <a:prstGeom prst="rect">
            <a:avLst/>
          </a:prstGeom>
          <a:noFill/>
          <a:ln/>
        </p:spPr>
        <p:txBody>
          <a:bodyPr wrap="square" lIns="0" tIns="0" rIns="0" bIns="0" rtlCol="0" anchor="ctr"/>
          <a:lstStyle/>
          <a:p>
            <a:pPr indent="0" marL="0">
              <a:lnSpc>
                <a:spcPts val="2000"/>
              </a:lnSpc>
              <a:buNone/>
            </a:pPr>
            <a:r>
              <a:rPr lang="en-US" sz="1450" b="1" dirty="0">
                <a:solidFill>
                  <a:srgbClr val="FF6B81"/>
                </a:solidFill>
                <a:latin typeface="Calibri" pitchFamily="34" charset="0"/>
                <a:ea typeface="Calibri" pitchFamily="34" charset="-122"/>
                <a:cs typeface="Calibri" pitchFamily="34" charset="-120"/>
              </a:rPr>
              <a:t>要点：  </a:t>
            </a:r>
            <a:pPr indent="0" marL="0">
              <a:lnSpc>
                <a:spcPts val="2000"/>
              </a:lnSpc>
              <a:buNone/>
            </a:pPr>
            <a:r>
              <a:rPr lang="en-US" sz="1450" dirty="0">
                <a:solidFill>
                  <a:srgbClr val="DCE6F5"/>
                </a:solidFill>
                <a:latin typeface="Calibri" pitchFamily="34" charset="0"/>
                <a:ea typeface="Calibri" pitchFamily="34" charset="-122"/>
                <a:cs typeface="Calibri" pitchFamily="34" charset="-120"/>
              </a:rPr>
              <a:t>EDRが「異常」を検知できる頃には、攻撃者はすでに入口を突破し社内を掌握している。入口（段階1）を塞ぐのが脆弱性検査の役割。</a:t>
            </a:r>
            <a:endParaRPr lang="en-US" sz="1450" dirty="0"/>
          </a:p>
        </p:txBody>
      </p:sp>
      <p:sp>
        <p:nvSpPr>
          <p:cNvPr id="33" name="Text 31"/>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データで見る「入口」</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攻撃者はどこから入るか ― EDRでは塞げない領域</a:t>
            </a:r>
            <a:endParaRPr lang="en-US" sz="3200" dirty="0"/>
          </a:p>
        </p:txBody>
      </p:sp>
      <p:sp>
        <p:nvSpPr>
          <p:cNvPr id="4" name="Shape 2"/>
          <p:cNvSpPr/>
          <p:nvPr/>
        </p:nvSpPr>
        <p:spPr>
          <a:xfrm>
            <a:off x="566928" y="1965960"/>
            <a:ext cx="5074920" cy="1737360"/>
          </a:xfrm>
          <a:prstGeom prst="roundRect">
            <a:avLst>
              <a:gd name="adj" fmla="val 473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5" name="Text 3"/>
          <p:cNvSpPr/>
          <p:nvPr/>
        </p:nvSpPr>
        <p:spPr>
          <a:xfrm>
            <a:off x="841248" y="2130552"/>
            <a:ext cx="2148840" cy="1371600"/>
          </a:xfrm>
          <a:prstGeom prst="rect">
            <a:avLst/>
          </a:prstGeom>
          <a:noFill/>
          <a:ln/>
        </p:spPr>
        <p:txBody>
          <a:bodyPr wrap="square" lIns="0" tIns="0" rIns="0" bIns="0" rtlCol="0" anchor="ctr"/>
          <a:lstStyle/>
          <a:p>
            <a:pPr algn="l" indent="0" marL="0">
              <a:buNone/>
            </a:pPr>
            <a:r>
              <a:rPr lang="en-US" sz="5000" b="1" dirty="0">
                <a:solidFill>
                  <a:srgbClr val="C8102E"/>
                </a:solidFill>
                <a:latin typeface="Cambria" pitchFamily="34" charset="0"/>
                <a:ea typeface="Cambria" pitchFamily="34" charset="-122"/>
                <a:cs typeface="Cambria" pitchFamily="34" charset="-120"/>
              </a:rPr>
              <a:t>8割超</a:t>
            </a:r>
            <a:endParaRPr lang="en-US" sz="5000" dirty="0"/>
          </a:p>
        </p:txBody>
      </p:sp>
      <p:sp>
        <p:nvSpPr>
          <p:cNvPr id="6" name="Text 4"/>
          <p:cNvSpPr/>
          <p:nvPr/>
        </p:nvSpPr>
        <p:spPr>
          <a:xfrm>
            <a:off x="2898648" y="2185416"/>
            <a:ext cx="2560320" cy="960120"/>
          </a:xfrm>
          <a:prstGeom prst="rect">
            <a:avLst/>
          </a:prstGeom>
          <a:noFill/>
          <a:ln/>
        </p:spPr>
        <p:txBody>
          <a:bodyPr wrap="square" lIns="0" tIns="0" rIns="0" bIns="0" rtlCol="0" anchor="ctr"/>
          <a:lstStyle/>
          <a:p>
            <a:pPr indent="0" marL="0">
              <a:lnSpc>
                <a:spcPts val="1800"/>
              </a:lnSpc>
              <a:buNone/>
            </a:pPr>
            <a:r>
              <a:rPr lang="en-US" sz="1350" b="1" dirty="0">
                <a:solidFill>
                  <a:srgbClr val="1A2332"/>
                </a:solidFill>
                <a:latin typeface="Calibri" pitchFamily="34" charset="0"/>
                <a:ea typeface="Calibri" pitchFamily="34" charset="-122"/>
                <a:cs typeface="Calibri" pitchFamily="34" charset="-120"/>
              </a:rPr>
              <a:t>ランサム侵入経路はVPN機器・リモートデスクトップ経由</a:t>
            </a:r>
            <a:endParaRPr lang="en-US" sz="1350" dirty="0"/>
          </a:p>
        </p:txBody>
      </p:sp>
      <p:sp>
        <p:nvSpPr>
          <p:cNvPr id="7" name="Text 5"/>
          <p:cNvSpPr/>
          <p:nvPr/>
        </p:nvSpPr>
        <p:spPr>
          <a:xfrm>
            <a:off x="2898648" y="3291840"/>
            <a:ext cx="2560320" cy="274320"/>
          </a:xfrm>
          <a:prstGeom prst="rect">
            <a:avLst/>
          </a:prstGeom>
          <a:noFill/>
          <a:ln/>
        </p:spPr>
        <p:txBody>
          <a:bodyPr wrap="square" lIns="0" tIns="0" rIns="0" bIns="0" rtlCol="0" anchor="ctr"/>
          <a:lstStyle/>
          <a:p>
            <a:pPr indent="0" marL="0">
              <a:buNone/>
            </a:pPr>
            <a:r>
              <a:rPr lang="en-US" sz="1000" i="1" dirty="0">
                <a:solidFill>
                  <a:srgbClr val="68738A"/>
                </a:solidFill>
                <a:latin typeface="Calibri" pitchFamily="34" charset="0"/>
                <a:ea typeface="Calibri" pitchFamily="34" charset="-122"/>
                <a:cs typeface="Calibri" pitchFamily="34" charset="-120"/>
              </a:rPr>
              <a:t>警察庁 2024/2025 レポート</a:t>
            </a:r>
            <a:endParaRPr lang="en-US" sz="1000" dirty="0"/>
          </a:p>
        </p:txBody>
      </p:sp>
      <p:sp>
        <p:nvSpPr>
          <p:cNvPr id="8" name="Shape 6"/>
          <p:cNvSpPr/>
          <p:nvPr/>
        </p:nvSpPr>
        <p:spPr>
          <a:xfrm>
            <a:off x="566928" y="3931920"/>
            <a:ext cx="5074920" cy="1737360"/>
          </a:xfrm>
          <a:prstGeom prst="roundRect">
            <a:avLst>
              <a:gd name="adj" fmla="val 473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9" name="Text 7"/>
          <p:cNvSpPr/>
          <p:nvPr/>
        </p:nvSpPr>
        <p:spPr>
          <a:xfrm>
            <a:off x="841248" y="4096512"/>
            <a:ext cx="2148840" cy="1371600"/>
          </a:xfrm>
          <a:prstGeom prst="rect">
            <a:avLst/>
          </a:prstGeom>
          <a:noFill/>
          <a:ln/>
        </p:spPr>
        <p:txBody>
          <a:bodyPr wrap="square" lIns="0" tIns="0" rIns="0" bIns="0" rtlCol="0" anchor="ctr"/>
          <a:lstStyle/>
          <a:p>
            <a:pPr algn="l" indent="0" marL="0">
              <a:buNone/>
            </a:pPr>
            <a:r>
              <a:rPr lang="en-US" sz="5000" b="1" dirty="0">
                <a:solidFill>
                  <a:srgbClr val="C8102E"/>
                </a:solidFill>
                <a:latin typeface="Cambria" pitchFamily="34" charset="0"/>
                <a:ea typeface="Cambria" pitchFamily="34" charset="-122"/>
                <a:cs typeface="Cambria" pitchFamily="34" charset="-120"/>
              </a:rPr>
              <a:t>約半数</a:t>
            </a:r>
            <a:endParaRPr lang="en-US" sz="5000" dirty="0"/>
          </a:p>
        </p:txBody>
      </p:sp>
      <p:sp>
        <p:nvSpPr>
          <p:cNvPr id="10" name="Text 8"/>
          <p:cNvSpPr/>
          <p:nvPr/>
        </p:nvSpPr>
        <p:spPr>
          <a:xfrm>
            <a:off x="2898648" y="4151376"/>
            <a:ext cx="2560320" cy="960120"/>
          </a:xfrm>
          <a:prstGeom prst="rect">
            <a:avLst/>
          </a:prstGeom>
          <a:noFill/>
          <a:ln/>
        </p:spPr>
        <p:txBody>
          <a:bodyPr wrap="square" lIns="0" tIns="0" rIns="0" bIns="0" rtlCol="0" anchor="ctr"/>
          <a:lstStyle/>
          <a:p>
            <a:pPr indent="0" marL="0">
              <a:lnSpc>
                <a:spcPts val="1800"/>
              </a:lnSpc>
              <a:buNone/>
            </a:pPr>
            <a:r>
              <a:rPr lang="en-US" sz="1350" b="1" dirty="0">
                <a:solidFill>
                  <a:srgbClr val="1A2332"/>
                </a:solidFill>
                <a:latin typeface="Calibri" pitchFamily="34" charset="0"/>
                <a:ea typeface="Calibri" pitchFamily="34" charset="-122"/>
                <a:cs typeface="Calibri" pitchFamily="34" charset="-120"/>
              </a:rPr>
              <a:t>侵入元となった機器でセキュリティパッチが未適用だった</a:t>
            </a:r>
            <a:endParaRPr lang="en-US" sz="1350" dirty="0"/>
          </a:p>
        </p:txBody>
      </p:sp>
      <p:sp>
        <p:nvSpPr>
          <p:cNvPr id="11" name="Text 9"/>
          <p:cNvSpPr/>
          <p:nvPr/>
        </p:nvSpPr>
        <p:spPr>
          <a:xfrm>
            <a:off x="2898648" y="5257800"/>
            <a:ext cx="2560320" cy="274320"/>
          </a:xfrm>
          <a:prstGeom prst="rect">
            <a:avLst/>
          </a:prstGeom>
          <a:noFill/>
          <a:ln/>
        </p:spPr>
        <p:txBody>
          <a:bodyPr wrap="square" lIns="0" tIns="0" rIns="0" bIns="0" rtlCol="0" anchor="ctr"/>
          <a:lstStyle/>
          <a:p>
            <a:pPr indent="0" marL="0">
              <a:buNone/>
            </a:pPr>
            <a:r>
              <a:rPr lang="en-US" sz="1000" i="1" dirty="0">
                <a:solidFill>
                  <a:srgbClr val="68738A"/>
                </a:solidFill>
                <a:latin typeface="Calibri" pitchFamily="34" charset="0"/>
                <a:ea typeface="Calibri" pitchFamily="34" charset="-122"/>
                <a:cs typeface="Calibri" pitchFamily="34" charset="-120"/>
              </a:rPr>
              <a:t>警察庁</a:t>
            </a:r>
            <a:endParaRPr lang="en-US" sz="1000" dirty="0"/>
          </a:p>
        </p:txBody>
      </p:sp>
      <p:sp>
        <p:nvSpPr>
          <p:cNvPr id="12" name="Text 10"/>
          <p:cNvSpPr/>
          <p:nvPr/>
        </p:nvSpPr>
        <p:spPr>
          <a:xfrm>
            <a:off x="5961888" y="1847088"/>
            <a:ext cx="5660136" cy="365760"/>
          </a:xfrm>
          <a:prstGeom prst="rect">
            <a:avLst/>
          </a:prstGeom>
          <a:noFill/>
          <a:ln/>
        </p:spPr>
        <p:txBody>
          <a:bodyPr wrap="square" lIns="0" tIns="0" rIns="0" bIns="0" rtlCol="0" anchor="ctr"/>
          <a:lstStyle/>
          <a:p>
            <a:pPr indent="0" marL="0">
              <a:buNone/>
            </a:pPr>
            <a:r>
              <a:rPr lang="en-US" sz="1300" b="1" dirty="0">
                <a:solidFill>
                  <a:srgbClr val="0E1B3D"/>
                </a:solidFill>
                <a:latin typeface="Calibri" pitchFamily="34" charset="0"/>
                <a:ea typeface="Calibri" pitchFamily="34" charset="-122"/>
                <a:cs typeface="Calibri" pitchFamily="34" charset="-120"/>
              </a:rPr>
              <a:t>公表インシデント38件の侵入原因（複数該当）</a:t>
            </a:r>
            <a:endParaRPr lang="en-US" sz="1300" dirty="0"/>
          </a:p>
        </p:txBody>
      </p:sp>
      <p:graphicFrame>
        <p:nvGraphicFramePr>
          <p:cNvPr id="13" name="Chart 0" descr=""/>
          <p:cNvGraphicFramePr/>
          <p:nvPr/>
        </p:nvGraphicFramePr>
        <p:xfrm>
          <a:off x="5961888" y="2286000"/>
          <a:ext cx="5660136" cy="288036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5961888" y="5230368"/>
            <a:ext cx="5660136" cy="731520"/>
          </a:xfrm>
          <a:prstGeom prst="rect">
            <a:avLst/>
          </a:prstGeom>
          <a:noFill/>
          <a:ln/>
        </p:spPr>
        <p:txBody>
          <a:bodyPr wrap="square" lIns="0" tIns="0" rIns="0" bIns="0" rtlCol="0" anchor="t"/>
          <a:lstStyle/>
          <a:p>
            <a:pPr indent="0" marL="0">
              <a:lnSpc>
                <a:spcPts val="1800"/>
              </a:lnSpc>
              <a:buNone/>
            </a:pPr>
            <a:r>
              <a:rPr lang="en-US" sz="1250" i="1" dirty="0">
                <a:solidFill>
                  <a:srgbClr val="1A2332"/>
                </a:solidFill>
                <a:latin typeface="Calibri" pitchFamily="34" charset="0"/>
                <a:ea typeface="Calibri" pitchFamily="34" charset="-122"/>
                <a:cs typeface="Calibri" pitchFamily="34" charset="-120"/>
              </a:rPr>
              <a:t>「脆弱性」と「認証情報の窃取（＝アカウント乗っ取り）」で全体の7割超。いずれもEDRの手前にある「入口」の問題。</a:t>
            </a:r>
            <a:endParaRPr lang="en-US" sz="1250" dirty="0"/>
          </a:p>
        </p:txBody>
      </p:sp>
      <p:sp>
        <p:nvSpPr>
          <p:cNvPr id="15" name="Text 12"/>
          <p:cNvSpPr/>
          <p:nvPr/>
        </p:nvSpPr>
        <p:spPr>
          <a:xfrm>
            <a:off x="5961888" y="5989320"/>
            <a:ext cx="5660136" cy="274320"/>
          </a:xfrm>
          <a:prstGeom prst="rect">
            <a:avLst/>
          </a:prstGeom>
          <a:noFill/>
          <a:ln/>
        </p:spPr>
        <p:txBody>
          <a:bodyPr wrap="square" lIns="0" tIns="0" rIns="0" bIns="0" rtlCol="0" anchor="ctr"/>
          <a:lstStyle/>
          <a:p>
            <a:pPr indent="0" marL="0">
              <a:buNone/>
            </a:pPr>
            <a:r>
              <a:rPr lang="en-US" sz="950" dirty="0">
                <a:solidFill>
                  <a:srgbClr val="68738A"/>
                </a:solidFill>
                <a:latin typeface="Calibri" pitchFamily="34" charset="0"/>
                <a:ea typeface="Calibri" pitchFamily="34" charset="-122"/>
                <a:cs typeface="Calibri" pitchFamily="34" charset="-120"/>
              </a:rPr>
              <a:t>出典: デジタルアーツ独自調査（2024/1–2025/5 公表38件）</a:t>
            </a:r>
            <a:endParaRPr lang="en-US" sz="950" dirty="0"/>
          </a:p>
        </p:txBody>
      </p:sp>
      <p:sp>
        <p:nvSpPr>
          <p:cNvPr id="16" name="Text 13"/>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S-1の役割を正しく理解する</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EDR(SentinelOne)ができること・できないこと</a:t>
            </a:r>
            <a:endParaRPr lang="en-US" sz="3200" dirty="0"/>
          </a:p>
        </p:txBody>
      </p:sp>
      <p:sp>
        <p:nvSpPr>
          <p:cNvPr id="4" name="Shape 2"/>
          <p:cNvSpPr/>
          <p:nvPr/>
        </p:nvSpPr>
        <p:spPr>
          <a:xfrm>
            <a:off x="566928" y="1874520"/>
            <a:ext cx="5298948" cy="4114800"/>
          </a:xfrm>
          <a:prstGeom prst="roundRect">
            <a:avLst>
              <a:gd name="adj" fmla="val 2000"/>
            </a:avLst>
          </a:prstGeom>
          <a:solidFill>
            <a:srgbClr val="EAF3EC"/>
          </a:solidFill>
          <a:ln w="12700">
            <a:solidFill>
              <a:srgbClr val="B9D6C1"/>
            </a:solidFill>
            <a:prstDash val="solid"/>
          </a:ln>
        </p:spPr>
      </p:sp>
      <p:sp>
        <p:nvSpPr>
          <p:cNvPr id="5" name="Text 3"/>
          <p:cNvSpPr/>
          <p:nvPr/>
        </p:nvSpPr>
        <p:spPr>
          <a:xfrm>
            <a:off x="886968" y="2084832"/>
            <a:ext cx="4658868" cy="457200"/>
          </a:xfrm>
          <a:prstGeom prst="rect">
            <a:avLst/>
          </a:prstGeom>
          <a:noFill/>
          <a:ln/>
        </p:spPr>
        <p:txBody>
          <a:bodyPr wrap="square" lIns="0" tIns="0" rIns="0" bIns="0" rtlCol="0" anchor="ctr"/>
          <a:lstStyle/>
          <a:p>
            <a:pPr indent="0" marL="0">
              <a:buNone/>
            </a:pPr>
            <a:r>
              <a:rPr lang="en-US" sz="1800" b="1" dirty="0">
                <a:solidFill>
                  <a:srgbClr val="1E7A46"/>
                </a:solidFill>
                <a:latin typeface="Cambria" pitchFamily="34" charset="0"/>
                <a:ea typeface="Cambria" pitchFamily="34" charset="-122"/>
                <a:cs typeface="Cambria" pitchFamily="34" charset="-120"/>
              </a:rPr>
              <a:t>○  EDRの守備範囲（内側の層）</a:t>
            </a:r>
            <a:endParaRPr lang="en-US" sz="1800" dirty="0"/>
          </a:p>
        </p:txBody>
      </p:sp>
      <p:sp>
        <p:nvSpPr>
          <p:cNvPr id="6" name="Text 4"/>
          <p:cNvSpPr/>
          <p:nvPr/>
        </p:nvSpPr>
        <p:spPr>
          <a:xfrm>
            <a:off x="886968" y="2743200"/>
            <a:ext cx="4658868" cy="3017520"/>
          </a:xfrm>
          <a:prstGeom prst="rect">
            <a:avLst/>
          </a:prstGeom>
          <a:noFill/>
          <a:ln/>
        </p:spPr>
        <p:txBody>
          <a:bodyPr wrap="square" lIns="0" tIns="0" rIns="0" bIns="0" rtlCol="0" anchor="t"/>
          <a:lstStyle/>
          <a:p>
            <a:pPr marL="342900" indent="-342900">
              <a:lnSpc>
                <a:spcPts val="2100"/>
              </a:lnSpc>
              <a:spcAft>
                <a:spcPts val="1500"/>
              </a:spcAft>
              <a:buSzPct val="100000"/>
              <a:buChar char="✓"/>
            </a:pPr>
            <a:r>
              <a:rPr lang="en-US" sz="1500" dirty="0">
                <a:solidFill>
                  <a:srgbClr val="1E7A46"/>
                </a:solidFill>
                <a:latin typeface="Calibri" pitchFamily="34" charset="0"/>
                <a:ea typeface="Calibri" pitchFamily="34" charset="-122"/>
                <a:cs typeface="Calibri" pitchFamily="34" charset="-120"/>
              </a:rPr>
              <a:t>エンドポイント上の不審な挙動の検知</a:t>
            </a:r>
            <a:endParaRPr lang="en-US" sz="1500" dirty="0"/>
          </a:p>
          <a:p>
            <a:pPr marL="342900" indent="-342900">
              <a:lnSpc>
                <a:spcPts val="2100"/>
              </a:lnSpc>
              <a:spcAft>
                <a:spcPts val="1500"/>
              </a:spcAft>
              <a:buSzPct val="100000"/>
              <a:buChar char="✓"/>
            </a:pPr>
            <a:r>
              <a:rPr lang="en-US" sz="1500" dirty="0">
                <a:solidFill>
                  <a:srgbClr val="1E7A46"/>
                </a:solidFill>
                <a:latin typeface="Calibri" pitchFamily="34" charset="0"/>
                <a:ea typeface="Calibri" pitchFamily="34" charset="-122"/>
                <a:cs typeface="Calibri" pitchFamily="34" charset="-120"/>
              </a:rPr>
              <a:t>検知した端末の隔離・プロセス停止</a:t>
            </a:r>
            <a:endParaRPr lang="en-US" sz="1500" dirty="0"/>
          </a:p>
          <a:p>
            <a:pPr marL="342900" indent="-342900">
              <a:lnSpc>
                <a:spcPts val="2100"/>
              </a:lnSpc>
              <a:spcAft>
                <a:spcPts val="1500"/>
              </a:spcAft>
              <a:buSzPct val="100000"/>
              <a:buChar char="✓"/>
            </a:pPr>
            <a:r>
              <a:rPr lang="en-US" sz="1500" dirty="0">
                <a:solidFill>
                  <a:srgbClr val="1E7A46"/>
                </a:solidFill>
                <a:latin typeface="Calibri" pitchFamily="34" charset="0"/>
                <a:ea typeface="Calibri" pitchFamily="34" charset="-122"/>
                <a:cs typeface="Calibri" pitchFamily="34" charset="-120"/>
              </a:rPr>
              <a:t>侵入後の被害拡大の抑制（成功すれば）</a:t>
            </a:r>
            <a:endParaRPr lang="en-US" sz="1500" dirty="0"/>
          </a:p>
          <a:p>
            <a:pPr marL="342900" indent="-342900">
              <a:lnSpc>
                <a:spcPts val="2100"/>
              </a:lnSpc>
              <a:spcAft>
                <a:spcPts val="1500"/>
              </a:spcAft>
              <a:buSzPct val="100000"/>
              <a:buChar char="✓"/>
            </a:pPr>
            <a:r>
              <a:rPr lang="en-US" sz="1500" dirty="0">
                <a:solidFill>
                  <a:srgbClr val="1E7A46"/>
                </a:solidFill>
                <a:latin typeface="Calibri" pitchFamily="34" charset="0"/>
                <a:ea typeface="Calibri" pitchFamily="34" charset="-122"/>
                <a:cs typeface="Calibri" pitchFamily="34" charset="-120"/>
              </a:rPr>
              <a:t>インシデント調査のためのログ取得</a:t>
            </a:r>
            <a:endParaRPr lang="en-US" sz="1500" dirty="0"/>
          </a:p>
        </p:txBody>
      </p:sp>
      <p:sp>
        <p:nvSpPr>
          <p:cNvPr id="7" name="Shape 5"/>
          <p:cNvSpPr/>
          <p:nvPr/>
        </p:nvSpPr>
        <p:spPr>
          <a:xfrm>
            <a:off x="6323076" y="1874520"/>
            <a:ext cx="5298948" cy="4114800"/>
          </a:xfrm>
          <a:prstGeom prst="roundRect">
            <a:avLst>
              <a:gd name="adj" fmla="val 2000"/>
            </a:avLst>
          </a:prstGeom>
          <a:solidFill>
            <a:srgbClr val="FBEDEF"/>
          </a:solidFill>
          <a:ln w="12700">
            <a:solidFill>
              <a:srgbClr val="E7B9C1"/>
            </a:solidFill>
            <a:prstDash val="solid"/>
          </a:ln>
        </p:spPr>
      </p:sp>
      <p:sp>
        <p:nvSpPr>
          <p:cNvPr id="8" name="Text 6"/>
          <p:cNvSpPr/>
          <p:nvPr/>
        </p:nvSpPr>
        <p:spPr>
          <a:xfrm>
            <a:off x="6643116" y="2084832"/>
            <a:ext cx="4658868" cy="457200"/>
          </a:xfrm>
          <a:prstGeom prst="rect">
            <a:avLst/>
          </a:prstGeom>
          <a:noFill/>
          <a:ln/>
        </p:spPr>
        <p:txBody>
          <a:bodyPr wrap="square" lIns="0" tIns="0" rIns="0" bIns="0" rtlCol="0" anchor="ctr"/>
          <a:lstStyle/>
          <a:p>
            <a:pPr indent="0" marL="0">
              <a:buNone/>
            </a:pPr>
            <a:r>
              <a:rPr lang="en-US" sz="1800" b="1" dirty="0">
                <a:solidFill>
                  <a:srgbClr val="8E0B20"/>
                </a:solidFill>
                <a:latin typeface="Cambria" pitchFamily="34" charset="0"/>
                <a:ea typeface="Cambria" pitchFamily="34" charset="-122"/>
                <a:cs typeface="Cambria" pitchFamily="34" charset="-120"/>
              </a:rPr>
              <a:t>✕  守備範囲の「外」＝脆弱性検査の領域</a:t>
            </a:r>
            <a:endParaRPr lang="en-US" sz="1800" dirty="0"/>
          </a:p>
        </p:txBody>
      </p:sp>
      <p:sp>
        <p:nvSpPr>
          <p:cNvPr id="9" name="Text 7"/>
          <p:cNvSpPr/>
          <p:nvPr/>
        </p:nvSpPr>
        <p:spPr>
          <a:xfrm>
            <a:off x="6643116" y="2743200"/>
            <a:ext cx="4658868" cy="3017520"/>
          </a:xfrm>
          <a:prstGeom prst="rect">
            <a:avLst/>
          </a:prstGeom>
          <a:noFill/>
          <a:ln/>
        </p:spPr>
        <p:txBody>
          <a:bodyPr wrap="square" lIns="0" tIns="0" rIns="0" bIns="0" rtlCol="0" anchor="t"/>
          <a:lstStyle/>
          <a:p>
            <a:pPr marL="342900" indent="-342900">
              <a:lnSpc>
                <a:spcPts val="2100"/>
              </a:lnSpc>
              <a:spcAft>
                <a:spcPts val="1500"/>
              </a:spcAft>
              <a:buSzPct val="100000"/>
              <a:buChar char="✗"/>
            </a:pPr>
            <a:r>
              <a:rPr lang="en-US" sz="1500" dirty="0">
                <a:solidFill>
                  <a:srgbClr val="8E0B20"/>
                </a:solidFill>
                <a:latin typeface="Calibri" pitchFamily="34" charset="0"/>
                <a:ea typeface="Calibri" pitchFamily="34" charset="-122"/>
                <a:cs typeface="Calibri" pitchFamily="34" charset="-120"/>
              </a:rPr>
              <a:t>VPN・公開サーバの脆弱性を塞ぐこと</a:t>
            </a:r>
            <a:endParaRPr lang="en-US" sz="1500" dirty="0"/>
          </a:p>
          <a:p>
            <a:pPr marL="342900" indent="-342900">
              <a:lnSpc>
                <a:spcPts val="2100"/>
              </a:lnSpc>
              <a:spcAft>
                <a:spcPts val="1500"/>
              </a:spcAft>
              <a:buSzPct val="100000"/>
              <a:buChar char="✗"/>
            </a:pPr>
            <a:r>
              <a:rPr lang="en-US" sz="1500" dirty="0">
                <a:solidFill>
                  <a:srgbClr val="8E0B20"/>
                </a:solidFill>
                <a:latin typeface="Calibri" pitchFamily="34" charset="0"/>
                <a:ea typeface="Calibri" pitchFamily="34" charset="-122"/>
                <a:cs typeface="Calibri" pitchFamily="34" charset="-120"/>
              </a:rPr>
              <a:t>盗まれた正規アカウントのログインを侵入と見抜くこと</a:t>
            </a:r>
            <a:endParaRPr lang="en-US" sz="1500" dirty="0"/>
          </a:p>
          <a:p>
            <a:pPr marL="342900" indent="-342900">
              <a:lnSpc>
                <a:spcPts val="2100"/>
              </a:lnSpc>
              <a:spcAft>
                <a:spcPts val="1500"/>
              </a:spcAft>
              <a:buSzPct val="100000"/>
              <a:buChar char="✗"/>
            </a:pPr>
            <a:r>
              <a:rPr lang="en-US" sz="1500" dirty="0">
                <a:solidFill>
                  <a:srgbClr val="8E0B20"/>
                </a:solidFill>
                <a:latin typeface="Calibri" pitchFamily="34" charset="0"/>
                <a:ea typeface="Calibri" pitchFamily="34" charset="-122"/>
                <a:cs typeface="Calibri" pitchFamily="34" charset="-120"/>
              </a:rPr>
              <a:t>設定不備・未パッチ機器を事前に発見すること</a:t>
            </a:r>
            <a:endParaRPr lang="en-US" sz="1500" dirty="0"/>
          </a:p>
          <a:p>
            <a:pPr marL="342900" indent="-342900">
              <a:lnSpc>
                <a:spcPts val="2100"/>
              </a:lnSpc>
              <a:spcAft>
                <a:spcPts val="1500"/>
              </a:spcAft>
              <a:buSzPct val="100000"/>
              <a:buChar char="✗"/>
            </a:pPr>
            <a:r>
              <a:rPr lang="en-US" sz="1500" dirty="0">
                <a:solidFill>
                  <a:srgbClr val="8E0B20"/>
                </a:solidFill>
                <a:latin typeface="Calibri" pitchFamily="34" charset="0"/>
                <a:ea typeface="Calibri" pitchFamily="34" charset="-122"/>
                <a:cs typeface="Calibri" pitchFamily="34" charset="-120"/>
              </a:rPr>
              <a:t>攻撃者に無効化・回避される可能性を排除すること</a:t>
            </a:r>
            <a:endParaRPr lang="en-US" sz="1500" dirty="0"/>
          </a:p>
        </p:txBody>
      </p:sp>
      <p:sp>
        <p:nvSpPr>
          <p:cNvPr id="10" name="Text 8"/>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B3D"/>
        </a:solidFill>
      </p:bgPr>
    </p:bg>
    <p:spTree>
      <p:nvGrpSpPr>
        <p:cNvPr id="1" name=""/>
        <p:cNvGrpSpPr/>
        <p:nvPr/>
      </p:nvGrpSpPr>
      <p:grpSpPr>
        <a:xfrm>
          <a:off x="0" y="0"/>
          <a:ext cx="0" cy="0"/>
          <a:chOff x="0" y="0"/>
          <a:chExt cx="0" cy="0"/>
        </a:xfrm>
      </p:grpSpPr>
      <p:sp>
        <p:nvSpPr>
          <p:cNvPr id="2" name="Shape 0"/>
          <p:cNvSpPr/>
          <p:nvPr/>
        </p:nvSpPr>
        <p:spPr>
          <a:xfrm rot="1080000">
            <a:off x="9052560" y="-822960"/>
            <a:ext cx="3840480" cy="3840480"/>
          </a:xfrm>
          <a:prstGeom prst="roundRect">
            <a:avLst>
              <a:gd name="adj" fmla="val 11905"/>
            </a:avLst>
          </a:prstGeom>
          <a:solidFill>
            <a:srgbClr val="18294F"/>
          </a:solidFill>
          <a:ln/>
        </p:spPr>
      </p:sp>
      <p:sp>
        <p:nvSpPr>
          <p:cNvPr id="3" name="Text 1"/>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FF6B81"/>
                </a:solidFill>
                <a:latin typeface="Calibri" pitchFamily="34" charset="0"/>
                <a:ea typeface="Calibri" pitchFamily="34" charset="-122"/>
                <a:cs typeface="Calibri" pitchFamily="34" charset="-120"/>
              </a:rPr>
              <a:t>事例①  ― これはS-1そのものが標的</a:t>
            </a:r>
            <a:endParaRPr lang="en-US" sz="1200" dirty="0"/>
          </a:p>
        </p:txBody>
      </p:sp>
      <p:sp>
        <p:nvSpPr>
          <p:cNvPr id="4" name="Text 2"/>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FFFFFF"/>
                </a:solidFill>
                <a:latin typeface="Cambria" pitchFamily="34" charset="0"/>
                <a:ea typeface="Cambria" pitchFamily="34" charset="-122"/>
                <a:cs typeface="Cambria" pitchFamily="34" charset="-120"/>
              </a:rPr>
              <a:t>SentinelOne を無効化してランサムを展開した実例</a:t>
            </a:r>
            <a:endParaRPr lang="en-US" sz="3200" dirty="0"/>
          </a:p>
        </p:txBody>
      </p:sp>
      <p:sp>
        <p:nvSpPr>
          <p:cNvPr id="5" name="Text 3"/>
          <p:cNvSpPr/>
          <p:nvPr/>
        </p:nvSpPr>
        <p:spPr>
          <a:xfrm>
            <a:off x="566928" y="1554480"/>
            <a:ext cx="11055096" cy="411480"/>
          </a:xfrm>
          <a:prstGeom prst="rect">
            <a:avLst/>
          </a:prstGeom>
          <a:noFill/>
          <a:ln/>
        </p:spPr>
        <p:txBody>
          <a:bodyPr wrap="square" lIns="0" tIns="0" rIns="0" bIns="0" rtlCol="0" anchor="ctr"/>
          <a:lstStyle/>
          <a:p>
            <a:pPr indent="0" marL="0">
              <a:buNone/>
            </a:pPr>
            <a:r>
              <a:rPr lang="en-US" sz="1800" b="1" dirty="0">
                <a:solidFill>
                  <a:srgbClr val="DCE6F5"/>
                </a:solidFill>
                <a:latin typeface="Cambria" pitchFamily="34" charset="0"/>
                <a:ea typeface="Cambria" pitchFamily="34" charset="-122"/>
                <a:cs typeface="Cambria" pitchFamily="34" charset="-120"/>
              </a:rPr>
              <a:t>「Bring Your Own Installer（BYOI）」手法</a:t>
            </a:r>
            <a:endParaRPr lang="en-US" sz="1800" dirty="0"/>
          </a:p>
        </p:txBody>
      </p:sp>
      <p:sp>
        <p:nvSpPr>
          <p:cNvPr id="6" name="Text 4"/>
          <p:cNvSpPr/>
          <p:nvPr/>
        </p:nvSpPr>
        <p:spPr>
          <a:xfrm>
            <a:off x="566928" y="2148840"/>
            <a:ext cx="6126480" cy="3657600"/>
          </a:xfrm>
          <a:prstGeom prst="rect">
            <a:avLst/>
          </a:prstGeom>
          <a:noFill/>
          <a:ln/>
        </p:spPr>
        <p:txBody>
          <a:bodyPr wrap="square" lIns="0" tIns="0" rIns="0" bIns="0" rtlCol="0" anchor="t"/>
          <a:lstStyle/>
          <a:p>
            <a:pPr indent="0" marL="0">
              <a:lnSpc>
                <a:spcPts val="2000"/>
              </a:lnSpc>
              <a:spcAft>
                <a:spcPts val="600"/>
              </a:spcAft>
              <a:buNone/>
            </a:pPr>
            <a:r>
              <a:rPr lang="en-US" sz="1500" b="1" dirty="0">
                <a:solidFill>
                  <a:srgbClr val="FF6B81"/>
                </a:solidFill>
                <a:latin typeface="Calibri" pitchFamily="34" charset="0"/>
                <a:ea typeface="Calibri" pitchFamily="34" charset="-122"/>
                <a:cs typeface="Calibri" pitchFamily="34" charset="-120"/>
              </a:rPr>
              <a:t>何が起きたか</a:t>
            </a:r>
            <a:endParaRPr lang="en-US" sz="1500" dirty="0"/>
          </a:p>
          <a:p>
            <a:pPr indent="0" marL="0">
              <a:lnSpc>
                <a:spcPts val="2000"/>
              </a:lnSpc>
              <a:spcAft>
                <a:spcPts val="1400"/>
              </a:spcAft>
              <a:buNone/>
            </a:pPr>
            <a:r>
              <a:rPr lang="en-US" sz="1400" dirty="0">
                <a:solidFill>
                  <a:srgbClr val="DCE6F5"/>
                </a:solidFill>
                <a:latin typeface="Calibri" pitchFamily="34" charset="0"/>
                <a:ea typeface="Calibri" pitchFamily="34" charset="-122"/>
                <a:cs typeface="Calibri" pitchFamily="34" charset="-120"/>
              </a:rPr>
              <a:t>攻撃者は正規の SentinelOne インストーラーを悪用。エージェント更新処理が既存プロセスを一時停止する「隙」を突いて改ざん防止(Tamper Protection)を回避し、S-1のサービスを停止させた。</a:t>
            </a:r>
            <a:endParaRPr lang="en-US" sz="1500" dirty="0"/>
          </a:p>
          <a:p>
            <a:pPr indent="0" marL="0">
              <a:lnSpc>
                <a:spcPts val="2000"/>
              </a:lnSpc>
              <a:spcAft>
                <a:spcPts val="1400"/>
              </a:spcAft>
              <a:buNone/>
            </a:pPr>
            <a:r>
              <a:rPr lang="en-US" sz="1400" dirty="0">
                <a:solidFill>
                  <a:srgbClr val="DCE6F5"/>
                </a:solidFill>
                <a:latin typeface="Calibri" pitchFamily="34" charset="0"/>
                <a:ea typeface="Calibri" pitchFamily="34" charset="-122"/>
                <a:cs typeface="Calibri" pitchFamily="34" charset="-120"/>
              </a:rPr>
              <a:t>無防備になった端末に Babuk ランサムウェアを展開。</a:t>
            </a:r>
            <a:endParaRPr lang="en-US" sz="1500" dirty="0"/>
          </a:p>
          <a:p>
            <a:pPr indent="0" marL="0">
              <a:lnSpc>
                <a:spcPts val="2000"/>
              </a:lnSpc>
              <a:spcAft>
                <a:spcPts val="600"/>
              </a:spcAft>
              <a:buNone/>
            </a:pPr>
            <a:r>
              <a:rPr lang="en-US" sz="1500" b="1" dirty="0">
                <a:solidFill>
                  <a:srgbClr val="FF6B81"/>
                </a:solidFill>
                <a:latin typeface="Calibri" pitchFamily="34" charset="0"/>
                <a:ea typeface="Calibri" pitchFamily="34" charset="-122"/>
                <a:cs typeface="Calibri" pitchFamily="34" charset="-120"/>
              </a:rPr>
              <a:t>発見・報告</a:t>
            </a:r>
            <a:endParaRPr lang="en-US" sz="1500" dirty="0"/>
          </a:p>
          <a:p>
            <a:pPr indent="0" marL="0">
              <a:lnSpc>
                <a:spcPts val="2000"/>
              </a:lnSpc>
              <a:buNone/>
            </a:pPr>
            <a:r>
              <a:rPr lang="en-US" sz="1400" dirty="0">
                <a:solidFill>
                  <a:srgbClr val="DCE6F5"/>
                </a:solidFill>
                <a:latin typeface="Calibri" pitchFamily="34" charset="0"/>
                <a:ea typeface="Calibri" pitchFamily="34" charset="-122"/>
                <a:cs typeface="Calibri" pitchFamily="34" charset="-120"/>
              </a:rPr>
              <a:t>インシデント対応企業 Aon（Stroz Friedberg）が2025年の実対応で発見。BleepingComputer 等が報道。</a:t>
            </a:r>
            <a:endParaRPr lang="en-US" sz="1500" dirty="0"/>
          </a:p>
        </p:txBody>
      </p:sp>
      <p:sp>
        <p:nvSpPr>
          <p:cNvPr id="7" name="Shape 5"/>
          <p:cNvSpPr/>
          <p:nvPr/>
        </p:nvSpPr>
        <p:spPr>
          <a:xfrm>
            <a:off x="7040880" y="2148840"/>
            <a:ext cx="4581144" cy="2148840"/>
          </a:xfrm>
          <a:prstGeom prst="roundRect">
            <a:avLst>
              <a:gd name="adj" fmla="val 3830"/>
            </a:avLst>
          </a:prstGeom>
          <a:solidFill>
            <a:srgbClr val="8E0B20"/>
          </a:solidFill>
          <a:ln/>
          <a:effectLst>
            <a:outerShdw sx="100000" sy="100000" kx="0" ky="0" algn="bl" rotWithShape="0" blurRad="101600" dist="38100" dir="5400000">
              <a:srgbClr val="8A93A6">
                <a:alpha val="28000"/>
              </a:srgbClr>
            </a:outerShdw>
          </a:effectLst>
        </p:spPr>
      </p:sp>
      <p:sp>
        <p:nvSpPr>
          <p:cNvPr id="8" name="Text 6"/>
          <p:cNvSpPr/>
          <p:nvPr/>
        </p:nvSpPr>
        <p:spPr>
          <a:xfrm>
            <a:off x="7315200" y="2331720"/>
            <a:ext cx="4206240" cy="365760"/>
          </a:xfrm>
          <a:prstGeom prst="rect">
            <a:avLst/>
          </a:prstGeom>
          <a:noFill/>
          <a:ln/>
        </p:spPr>
        <p:txBody>
          <a:bodyPr wrap="square" lIns="0" tIns="0" rIns="0" bIns="0" rtlCol="0" anchor="ctr"/>
          <a:lstStyle/>
          <a:p>
            <a:pPr indent="0" marL="0">
              <a:buNone/>
            </a:pPr>
            <a:r>
              <a:rPr lang="en-US" sz="1200" b="1" spc="200" kern="0" dirty="0">
                <a:solidFill>
                  <a:srgbClr val="FFC9D1"/>
                </a:solidFill>
                <a:latin typeface="Calibri" pitchFamily="34" charset="0"/>
                <a:ea typeface="Calibri" pitchFamily="34" charset="-122"/>
                <a:cs typeface="Calibri" pitchFamily="34" charset="-120"/>
              </a:rPr>
              <a:t>結論</a:t>
            </a:r>
            <a:endParaRPr lang="en-US" sz="1200" dirty="0"/>
          </a:p>
        </p:txBody>
      </p:sp>
      <p:sp>
        <p:nvSpPr>
          <p:cNvPr id="9" name="Text 7"/>
          <p:cNvSpPr/>
          <p:nvPr/>
        </p:nvSpPr>
        <p:spPr>
          <a:xfrm>
            <a:off x="7315200" y="2697480"/>
            <a:ext cx="4032504" cy="1463040"/>
          </a:xfrm>
          <a:prstGeom prst="rect">
            <a:avLst/>
          </a:prstGeom>
          <a:noFill/>
          <a:ln/>
        </p:spPr>
        <p:txBody>
          <a:bodyPr wrap="square" lIns="0" tIns="0" rIns="0" bIns="0" rtlCol="0" anchor="t"/>
          <a:lstStyle/>
          <a:p>
            <a:pPr indent="0" marL="0">
              <a:lnSpc>
                <a:spcPts val="2400"/>
              </a:lnSpc>
              <a:buNone/>
            </a:pPr>
            <a:r>
              <a:rPr lang="en-US" sz="1700" b="1" dirty="0">
                <a:solidFill>
                  <a:srgbClr val="FFFFFF"/>
                </a:solidFill>
                <a:latin typeface="Cambria" pitchFamily="34" charset="0"/>
                <a:ea typeface="Cambria" pitchFamily="34" charset="-122"/>
                <a:cs typeface="Cambria" pitchFamily="34" charset="-120"/>
              </a:rPr>
              <a:t>EDRは「必ず守ってくれる装置」ではなく、攻撃者に停止・回避されうる対象。導入＝安全ではない。</a:t>
            </a:r>
            <a:endParaRPr lang="en-US" sz="1700" dirty="0"/>
          </a:p>
        </p:txBody>
      </p:sp>
      <p:sp>
        <p:nvSpPr>
          <p:cNvPr id="10" name="Shape 8"/>
          <p:cNvSpPr/>
          <p:nvPr/>
        </p:nvSpPr>
        <p:spPr>
          <a:xfrm>
            <a:off x="7040880" y="4434840"/>
            <a:ext cx="4581144" cy="1371600"/>
          </a:xfrm>
          <a:prstGeom prst="roundRect">
            <a:avLst>
              <a:gd name="adj" fmla="val 6000"/>
            </a:avLst>
          </a:prstGeom>
          <a:solidFill>
            <a:srgbClr val="18294F"/>
          </a:solidFill>
          <a:ln w="12700">
            <a:solidFill>
              <a:srgbClr val="3E5C76"/>
            </a:solidFill>
            <a:prstDash val="solid"/>
          </a:ln>
        </p:spPr>
      </p:sp>
      <p:sp>
        <p:nvSpPr>
          <p:cNvPr id="11" name="Text 9"/>
          <p:cNvSpPr/>
          <p:nvPr/>
        </p:nvSpPr>
        <p:spPr>
          <a:xfrm>
            <a:off x="7315200" y="4590288"/>
            <a:ext cx="4032504" cy="1097280"/>
          </a:xfrm>
          <a:prstGeom prst="rect">
            <a:avLst/>
          </a:prstGeom>
          <a:noFill/>
          <a:ln/>
        </p:spPr>
        <p:txBody>
          <a:bodyPr wrap="square" lIns="0" tIns="0" rIns="0" bIns="0" rtlCol="0" anchor="t"/>
          <a:lstStyle/>
          <a:p>
            <a:pPr indent="0" marL="0">
              <a:lnSpc>
                <a:spcPts val="1800"/>
              </a:lnSpc>
              <a:spcAft>
                <a:spcPts val="400"/>
              </a:spcAft>
              <a:buNone/>
            </a:pPr>
            <a:r>
              <a:rPr lang="en-US" sz="1300" b="1" dirty="0">
                <a:solidFill>
                  <a:srgbClr val="9FE0B5"/>
                </a:solidFill>
                <a:latin typeface="Calibri" pitchFamily="34" charset="0"/>
                <a:ea typeface="Calibri" pitchFamily="34" charset="-122"/>
                <a:cs typeface="Calibri" pitchFamily="34" charset="-120"/>
              </a:rPr>
              <a:t>緩和策（S-1側）：</a:t>
            </a:r>
            <a:endParaRPr lang="en-US" sz="1300" dirty="0"/>
          </a:p>
          <a:p>
            <a:pPr indent="0" marL="0">
              <a:lnSpc>
                <a:spcPts val="1800"/>
              </a:lnSpc>
              <a:buNone/>
            </a:pPr>
            <a:r>
              <a:rPr lang="en-US" sz="1300" dirty="0">
                <a:solidFill>
                  <a:srgbClr val="DCE6F5"/>
                </a:solidFill>
                <a:latin typeface="Calibri" pitchFamily="34" charset="0"/>
                <a:ea typeface="Calibri" pitchFamily="34" charset="-122"/>
                <a:cs typeface="Calibri" pitchFamily="34" charset="-120"/>
              </a:rPr>
              <a:t>「Online Authorization」を有効化し、端末ローカルでのアップグレード/ダウングレードを禁止する。</a:t>
            </a:r>
            <a:endParaRPr lang="en-US" sz="1300" dirty="0"/>
          </a:p>
        </p:txBody>
      </p:sp>
      <p:sp>
        <p:nvSpPr>
          <p:cNvPr id="12" name="Text 10"/>
          <p:cNvSpPr/>
          <p:nvPr/>
        </p:nvSpPr>
        <p:spPr>
          <a:xfrm>
            <a:off x="566928" y="6144768"/>
            <a:ext cx="11055096" cy="274320"/>
          </a:xfrm>
          <a:prstGeom prst="rect">
            <a:avLst/>
          </a:prstGeom>
          <a:noFill/>
          <a:ln/>
        </p:spPr>
        <p:txBody>
          <a:bodyPr wrap="square" lIns="0" tIns="0" rIns="0" bIns="0" rtlCol="0" anchor="ctr"/>
          <a:lstStyle/>
          <a:p>
            <a:pPr indent="0" marL="0">
              <a:buNone/>
            </a:pPr>
            <a:r>
              <a:rPr lang="en-US" sz="1000" dirty="0">
                <a:solidFill>
                  <a:srgbClr val="9AA6BF"/>
                </a:solidFill>
                <a:latin typeface="Calibri" pitchFamily="34" charset="0"/>
                <a:ea typeface="Calibri" pitchFamily="34" charset="-122"/>
                <a:cs typeface="Calibri" pitchFamily="34" charset="-120"/>
              </a:rPr>
              <a:t>出典: BleepingComputer / SecurityAffairs / Aon Stroz Friedberg（2025）</a:t>
            </a:r>
            <a:endParaRPr lang="en-US" sz="1000" dirty="0"/>
          </a:p>
        </p:txBody>
      </p:sp>
      <p:sp>
        <p:nvSpPr>
          <p:cNvPr id="13" name="Text 11"/>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DCE6F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事例②  ― EDR導入済みの大手でも</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アスクル（2025年）― EDRを無効化し4か月潜伏</a:t>
            </a:r>
            <a:endParaRPr lang="en-US" sz="3200" dirty="0"/>
          </a:p>
        </p:txBody>
      </p:sp>
      <p:sp>
        <p:nvSpPr>
          <p:cNvPr id="4" name="Shape 2"/>
          <p:cNvSpPr/>
          <p:nvPr/>
        </p:nvSpPr>
        <p:spPr>
          <a:xfrm>
            <a:off x="566928" y="2011680"/>
            <a:ext cx="2523744" cy="1417320"/>
          </a:xfrm>
          <a:prstGeom prst="roundRect">
            <a:avLst>
              <a:gd name="adj" fmla="val 5161"/>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5" name="Text 3"/>
          <p:cNvSpPr/>
          <p:nvPr/>
        </p:nvSpPr>
        <p:spPr>
          <a:xfrm>
            <a:off x="731520" y="2148840"/>
            <a:ext cx="2194560" cy="457200"/>
          </a:xfrm>
          <a:prstGeom prst="rect">
            <a:avLst/>
          </a:prstGeom>
          <a:noFill/>
          <a:ln/>
        </p:spPr>
        <p:txBody>
          <a:bodyPr wrap="square" lIns="0" tIns="0" rIns="0" bIns="0" rtlCol="0" anchor="ctr"/>
          <a:lstStyle/>
          <a:p>
            <a:pPr indent="0" marL="0">
              <a:buNone/>
            </a:pPr>
            <a:r>
              <a:rPr lang="en-US" sz="2000" b="1" dirty="0">
                <a:solidFill>
                  <a:srgbClr val="3E5C76"/>
                </a:solidFill>
                <a:latin typeface="Cambria" pitchFamily="34" charset="0"/>
                <a:ea typeface="Cambria" pitchFamily="34" charset="-122"/>
                <a:cs typeface="Cambria" pitchFamily="34" charset="-120"/>
              </a:rPr>
              <a:t>6/5</a:t>
            </a:r>
            <a:endParaRPr lang="en-US" sz="2000" dirty="0"/>
          </a:p>
        </p:txBody>
      </p:sp>
      <p:sp>
        <p:nvSpPr>
          <p:cNvPr id="6" name="Text 4"/>
          <p:cNvSpPr/>
          <p:nvPr/>
        </p:nvSpPr>
        <p:spPr>
          <a:xfrm>
            <a:off x="731520" y="2651760"/>
            <a:ext cx="2194560" cy="68580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初期侵入</a:t>
            </a:r>
            <a:endParaRPr lang="en-US" sz="1250" dirty="0"/>
          </a:p>
        </p:txBody>
      </p:sp>
      <p:sp>
        <p:nvSpPr>
          <p:cNvPr id="7" name="Shape 5"/>
          <p:cNvSpPr/>
          <p:nvPr/>
        </p:nvSpPr>
        <p:spPr>
          <a:xfrm>
            <a:off x="3410712" y="2011680"/>
            <a:ext cx="2523744" cy="1417320"/>
          </a:xfrm>
          <a:prstGeom prst="roundRect">
            <a:avLst>
              <a:gd name="adj" fmla="val 5161"/>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8" name="Text 6"/>
          <p:cNvSpPr/>
          <p:nvPr/>
        </p:nvSpPr>
        <p:spPr>
          <a:xfrm>
            <a:off x="3575304" y="2148840"/>
            <a:ext cx="2194560" cy="457200"/>
          </a:xfrm>
          <a:prstGeom prst="rect">
            <a:avLst/>
          </a:prstGeom>
          <a:noFill/>
          <a:ln/>
        </p:spPr>
        <p:txBody>
          <a:bodyPr wrap="square" lIns="0" tIns="0" rIns="0" bIns="0" rtlCol="0" anchor="ctr"/>
          <a:lstStyle/>
          <a:p>
            <a:pPr indent="0" marL="0">
              <a:buNone/>
            </a:pPr>
            <a:r>
              <a:rPr lang="en-US" sz="2000" b="1" dirty="0">
                <a:solidFill>
                  <a:srgbClr val="3E5C76"/>
                </a:solidFill>
                <a:latin typeface="Cambria" pitchFamily="34" charset="0"/>
                <a:ea typeface="Cambria" pitchFamily="34" charset="-122"/>
                <a:cs typeface="Cambria" pitchFamily="34" charset="-120"/>
              </a:rPr>
              <a:t>6〜10月</a:t>
            </a:r>
            <a:endParaRPr lang="en-US" sz="2000" dirty="0"/>
          </a:p>
        </p:txBody>
      </p:sp>
      <p:sp>
        <p:nvSpPr>
          <p:cNvPr id="9" name="Text 7"/>
          <p:cNvSpPr/>
          <p:nvPr/>
        </p:nvSpPr>
        <p:spPr>
          <a:xfrm>
            <a:off x="3575304" y="2651760"/>
            <a:ext cx="2194560" cy="68580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探索・権限奪取（潜伏）</a:t>
            </a:r>
            <a:endParaRPr lang="en-US" sz="1250" dirty="0"/>
          </a:p>
        </p:txBody>
      </p:sp>
      <p:sp>
        <p:nvSpPr>
          <p:cNvPr id="10" name="Shape 8"/>
          <p:cNvSpPr/>
          <p:nvPr/>
        </p:nvSpPr>
        <p:spPr>
          <a:xfrm>
            <a:off x="6254496" y="2011680"/>
            <a:ext cx="2523744" cy="1417320"/>
          </a:xfrm>
          <a:prstGeom prst="roundRect">
            <a:avLst>
              <a:gd name="adj" fmla="val 5161"/>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1" name="Text 9"/>
          <p:cNvSpPr/>
          <p:nvPr/>
        </p:nvSpPr>
        <p:spPr>
          <a:xfrm>
            <a:off x="6419088" y="2148840"/>
            <a:ext cx="2194560" cy="457200"/>
          </a:xfrm>
          <a:prstGeom prst="rect">
            <a:avLst/>
          </a:prstGeom>
          <a:noFill/>
          <a:ln/>
        </p:spPr>
        <p:txBody>
          <a:bodyPr wrap="square" lIns="0" tIns="0" rIns="0" bIns="0" rtlCol="0" anchor="ctr"/>
          <a:lstStyle/>
          <a:p>
            <a:pPr indent="0" marL="0">
              <a:buNone/>
            </a:pPr>
            <a:r>
              <a:rPr lang="en-US" sz="2000" b="1" dirty="0">
                <a:solidFill>
                  <a:srgbClr val="C8791A"/>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6419088" y="2651760"/>
            <a:ext cx="2194560" cy="68580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EDR等を無効化しサーバ間を移動</a:t>
            </a:r>
            <a:endParaRPr lang="en-US" sz="1250" dirty="0"/>
          </a:p>
        </p:txBody>
      </p:sp>
      <p:sp>
        <p:nvSpPr>
          <p:cNvPr id="13" name="Shape 11"/>
          <p:cNvSpPr/>
          <p:nvPr/>
        </p:nvSpPr>
        <p:spPr>
          <a:xfrm>
            <a:off x="9098280" y="2011680"/>
            <a:ext cx="2523744" cy="1417320"/>
          </a:xfrm>
          <a:prstGeom prst="roundRect">
            <a:avLst>
              <a:gd name="adj" fmla="val 5161"/>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4" name="Text 12"/>
          <p:cNvSpPr/>
          <p:nvPr/>
        </p:nvSpPr>
        <p:spPr>
          <a:xfrm>
            <a:off x="9262872" y="2148840"/>
            <a:ext cx="2194560" cy="457200"/>
          </a:xfrm>
          <a:prstGeom prst="rect">
            <a:avLst/>
          </a:prstGeom>
          <a:noFill/>
          <a:ln/>
        </p:spPr>
        <p:txBody>
          <a:bodyPr wrap="square" lIns="0" tIns="0" rIns="0" bIns="0" rtlCol="0" anchor="ctr"/>
          <a:lstStyle/>
          <a:p>
            <a:pPr indent="0" marL="0">
              <a:buNone/>
            </a:pPr>
            <a:r>
              <a:rPr lang="en-US" sz="2000" b="1" dirty="0">
                <a:solidFill>
                  <a:srgbClr val="C8102E"/>
                </a:solidFill>
                <a:latin typeface="Cambria" pitchFamily="34" charset="0"/>
                <a:ea typeface="Cambria" pitchFamily="34" charset="-122"/>
                <a:cs typeface="Cambria" pitchFamily="34" charset="-120"/>
              </a:rPr>
              <a:t>10/19</a:t>
            </a:r>
            <a:endParaRPr lang="en-US" sz="2000" dirty="0"/>
          </a:p>
        </p:txBody>
      </p:sp>
      <p:sp>
        <p:nvSpPr>
          <p:cNvPr id="15" name="Text 13"/>
          <p:cNvSpPr/>
          <p:nvPr/>
        </p:nvSpPr>
        <p:spPr>
          <a:xfrm>
            <a:off x="9262872" y="2651760"/>
            <a:ext cx="2194560" cy="68580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ランサム起動・受注出荷を全面停止</a:t>
            </a:r>
            <a:endParaRPr lang="en-US" sz="1250" dirty="0"/>
          </a:p>
        </p:txBody>
      </p:sp>
      <p:sp>
        <p:nvSpPr>
          <p:cNvPr id="16" name="Shape 14"/>
          <p:cNvSpPr/>
          <p:nvPr/>
        </p:nvSpPr>
        <p:spPr>
          <a:xfrm>
            <a:off x="3108960" y="2542032"/>
            <a:ext cx="283464" cy="365760"/>
          </a:xfrm>
          <a:prstGeom prst="rightArrow">
            <a:avLst/>
          </a:prstGeom>
          <a:solidFill>
            <a:srgbClr val="3E5C76"/>
          </a:solidFill>
          <a:ln/>
        </p:spPr>
      </p:sp>
      <p:sp>
        <p:nvSpPr>
          <p:cNvPr id="17" name="Shape 15"/>
          <p:cNvSpPr/>
          <p:nvPr/>
        </p:nvSpPr>
        <p:spPr>
          <a:xfrm>
            <a:off x="5952744" y="2542032"/>
            <a:ext cx="283464" cy="365760"/>
          </a:xfrm>
          <a:prstGeom prst="rightArrow">
            <a:avLst/>
          </a:prstGeom>
          <a:solidFill>
            <a:srgbClr val="3E5C76"/>
          </a:solidFill>
          <a:ln/>
        </p:spPr>
      </p:sp>
      <p:sp>
        <p:nvSpPr>
          <p:cNvPr id="18" name="Shape 16"/>
          <p:cNvSpPr/>
          <p:nvPr/>
        </p:nvSpPr>
        <p:spPr>
          <a:xfrm>
            <a:off x="8796528" y="2542032"/>
            <a:ext cx="283464" cy="365760"/>
          </a:xfrm>
          <a:prstGeom prst="rightArrow">
            <a:avLst/>
          </a:prstGeom>
          <a:solidFill>
            <a:srgbClr val="3E5C76"/>
          </a:solidFill>
          <a:ln/>
        </p:spPr>
      </p:sp>
      <p:sp>
        <p:nvSpPr>
          <p:cNvPr id="19" name="Shape 17"/>
          <p:cNvSpPr/>
          <p:nvPr/>
        </p:nvSpPr>
        <p:spPr>
          <a:xfrm>
            <a:off x="566928" y="3703320"/>
            <a:ext cx="6766560" cy="2148840"/>
          </a:xfrm>
          <a:prstGeom prst="roundRect">
            <a:avLst>
              <a:gd name="adj" fmla="val 3830"/>
            </a:avLst>
          </a:prstGeom>
          <a:solidFill>
            <a:srgbClr val="0E1B3D"/>
          </a:solidFill>
          <a:ln/>
        </p:spPr>
      </p:sp>
      <p:sp>
        <p:nvSpPr>
          <p:cNvPr id="20" name="Text 18"/>
          <p:cNvSpPr/>
          <p:nvPr/>
        </p:nvSpPr>
        <p:spPr>
          <a:xfrm>
            <a:off x="886968" y="3886200"/>
            <a:ext cx="6126480" cy="365760"/>
          </a:xfrm>
          <a:prstGeom prst="rect">
            <a:avLst/>
          </a:prstGeom>
          <a:noFill/>
          <a:ln/>
        </p:spPr>
        <p:txBody>
          <a:bodyPr wrap="square" lIns="0" tIns="0" rIns="0" bIns="0" rtlCol="0" anchor="ctr"/>
          <a:lstStyle/>
          <a:p>
            <a:pPr indent="0" marL="0">
              <a:buNone/>
            </a:pPr>
            <a:r>
              <a:rPr lang="en-US" sz="1200" b="1" spc="100" kern="0" dirty="0">
                <a:solidFill>
                  <a:srgbClr val="FF6B81"/>
                </a:solidFill>
                <a:latin typeface="Calibri" pitchFamily="34" charset="0"/>
                <a:ea typeface="Calibri" pitchFamily="34" charset="-122"/>
                <a:cs typeface="Calibri" pitchFamily="34" charset="-120"/>
              </a:rPr>
              <a:t>アスクルの被害報告（要旨）</a:t>
            </a:r>
            <a:endParaRPr lang="en-US" sz="1200" dirty="0"/>
          </a:p>
        </p:txBody>
      </p:sp>
      <p:sp>
        <p:nvSpPr>
          <p:cNvPr id="21" name="Text 19"/>
          <p:cNvSpPr/>
          <p:nvPr/>
        </p:nvSpPr>
        <p:spPr>
          <a:xfrm>
            <a:off x="886968" y="4251960"/>
            <a:ext cx="6126480" cy="1463040"/>
          </a:xfrm>
          <a:prstGeom prst="rect">
            <a:avLst/>
          </a:prstGeom>
          <a:noFill/>
          <a:ln/>
        </p:spPr>
        <p:txBody>
          <a:bodyPr wrap="square" lIns="0" tIns="0" rIns="0" bIns="0" rtlCol="0" anchor="t"/>
          <a:lstStyle/>
          <a:p>
            <a:pPr indent="0" marL="0">
              <a:lnSpc>
                <a:spcPts val="2300"/>
              </a:lnSpc>
              <a:buNone/>
            </a:pPr>
            <a:r>
              <a:rPr lang="en-US" sz="1550" i="1" dirty="0">
                <a:solidFill>
                  <a:srgbClr val="FFFFFF"/>
                </a:solidFill>
                <a:latin typeface="Cambria" pitchFamily="34" charset="0"/>
                <a:ea typeface="Cambria" pitchFamily="34" charset="-122"/>
                <a:cs typeface="Cambria" pitchFamily="34" charset="-120"/>
              </a:rPr>
              <a:t>「攻撃者は EDR 等の脆弱性対策ソフトを無効化し、複数のサーバ間を移動して必要な権限を取得、ネットワーク全体へのアクセス能力を獲得していった」</a:t>
            </a:r>
            <a:endParaRPr lang="en-US" sz="1550" dirty="0"/>
          </a:p>
        </p:txBody>
      </p:sp>
      <p:sp>
        <p:nvSpPr>
          <p:cNvPr id="22" name="Shape 20"/>
          <p:cNvSpPr/>
          <p:nvPr/>
        </p:nvSpPr>
        <p:spPr>
          <a:xfrm>
            <a:off x="7498080" y="3703320"/>
            <a:ext cx="4123944" cy="960120"/>
          </a:xfrm>
          <a:prstGeom prst="roundRect">
            <a:avLst>
              <a:gd name="adj" fmla="val 7619"/>
            </a:avLst>
          </a:prstGeom>
          <a:solidFill>
            <a:srgbClr val="F4F6FB"/>
          </a:solidFill>
          <a:ln w="12700">
            <a:solidFill>
              <a:srgbClr val="E2E8F4"/>
            </a:solidFill>
            <a:prstDash val="solid"/>
          </a:ln>
        </p:spPr>
      </p:sp>
      <p:sp>
        <p:nvSpPr>
          <p:cNvPr id="23" name="Text 21"/>
          <p:cNvSpPr/>
          <p:nvPr/>
        </p:nvSpPr>
        <p:spPr>
          <a:xfrm>
            <a:off x="7680960" y="3776472"/>
            <a:ext cx="2011680" cy="822960"/>
          </a:xfrm>
          <a:prstGeom prst="rect">
            <a:avLst/>
          </a:prstGeom>
          <a:noFill/>
          <a:ln/>
        </p:spPr>
        <p:txBody>
          <a:bodyPr wrap="square" lIns="0" tIns="0" rIns="0" bIns="0" rtlCol="0" anchor="ctr"/>
          <a:lstStyle/>
          <a:p>
            <a:pPr indent="0" marL="0">
              <a:buNone/>
            </a:pPr>
            <a:r>
              <a:rPr lang="en-US" sz="2900" b="1" dirty="0">
                <a:solidFill>
                  <a:srgbClr val="C8102E"/>
                </a:solidFill>
                <a:latin typeface="Cambria" pitchFamily="34" charset="0"/>
                <a:ea typeface="Cambria" pitchFamily="34" charset="-122"/>
                <a:cs typeface="Cambria" pitchFamily="34" charset="-120"/>
              </a:rPr>
              <a:t>約4か月+</a:t>
            </a:r>
            <a:endParaRPr lang="en-US" sz="2900" dirty="0"/>
          </a:p>
        </p:txBody>
      </p:sp>
      <p:sp>
        <p:nvSpPr>
          <p:cNvPr id="24" name="Text 22"/>
          <p:cNvSpPr/>
          <p:nvPr/>
        </p:nvSpPr>
        <p:spPr>
          <a:xfrm>
            <a:off x="9601200" y="3794760"/>
            <a:ext cx="1837944" cy="777240"/>
          </a:xfrm>
          <a:prstGeom prst="rect">
            <a:avLst/>
          </a:prstGeom>
          <a:noFill/>
          <a:ln/>
        </p:spPr>
        <p:txBody>
          <a:bodyPr wrap="square" lIns="0" tIns="0" rIns="0" bIns="0" rtlCol="0" anchor="ctr"/>
          <a:lstStyle/>
          <a:p>
            <a:pPr indent="0" marL="0">
              <a:lnSpc>
                <a:spcPts val="1600"/>
              </a:lnSpc>
              <a:buNone/>
            </a:pPr>
            <a:r>
              <a:rPr lang="en-US" sz="1200" b="1" dirty="0">
                <a:solidFill>
                  <a:srgbClr val="1A2332"/>
                </a:solidFill>
                <a:latin typeface="Calibri" pitchFamily="34" charset="0"/>
                <a:ea typeface="Calibri" pitchFamily="34" charset="-122"/>
                <a:cs typeface="Calibri" pitchFamily="34" charset="-120"/>
              </a:rPr>
              <a:t>侵入から暗号化までの潜伏期間</a:t>
            </a:r>
            <a:endParaRPr lang="en-US" sz="1200" dirty="0"/>
          </a:p>
        </p:txBody>
      </p:sp>
      <p:sp>
        <p:nvSpPr>
          <p:cNvPr id="25" name="Shape 23"/>
          <p:cNvSpPr/>
          <p:nvPr/>
        </p:nvSpPr>
        <p:spPr>
          <a:xfrm>
            <a:off x="7498080" y="4800600"/>
            <a:ext cx="4123944" cy="960120"/>
          </a:xfrm>
          <a:prstGeom prst="roundRect">
            <a:avLst>
              <a:gd name="adj" fmla="val 7619"/>
            </a:avLst>
          </a:prstGeom>
          <a:solidFill>
            <a:srgbClr val="F4F6FB"/>
          </a:solidFill>
          <a:ln w="12700">
            <a:solidFill>
              <a:srgbClr val="E2E8F4"/>
            </a:solidFill>
            <a:prstDash val="solid"/>
          </a:ln>
        </p:spPr>
      </p:sp>
      <p:sp>
        <p:nvSpPr>
          <p:cNvPr id="26" name="Text 24"/>
          <p:cNvSpPr/>
          <p:nvPr/>
        </p:nvSpPr>
        <p:spPr>
          <a:xfrm>
            <a:off x="7680960" y="4873752"/>
            <a:ext cx="2011680" cy="822960"/>
          </a:xfrm>
          <a:prstGeom prst="rect">
            <a:avLst/>
          </a:prstGeom>
          <a:noFill/>
          <a:ln/>
        </p:spPr>
        <p:txBody>
          <a:bodyPr wrap="square" lIns="0" tIns="0" rIns="0" bIns="0" rtlCol="0" anchor="ctr"/>
          <a:lstStyle/>
          <a:p>
            <a:pPr indent="0" marL="0">
              <a:buNone/>
            </a:pPr>
            <a:r>
              <a:rPr lang="en-US" sz="2900" b="1" dirty="0">
                <a:solidFill>
                  <a:srgbClr val="C8102E"/>
                </a:solidFill>
                <a:latin typeface="Cambria" pitchFamily="34" charset="0"/>
                <a:ea typeface="Cambria" pitchFamily="34" charset="-122"/>
                <a:cs typeface="Cambria" pitchFamily="34" charset="-120"/>
              </a:rPr>
              <a:t>約74万件</a:t>
            </a:r>
            <a:endParaRPr lang="en-US" sz="2900" dirty="0"/>
          </a:p>
        </p:txBody>
      </p:sp>
      <p:sp>
        <p:nvSpPr>
          <p:cNvPr id="27" name="Text 25"/>
          <p:cNvSpPr/>
          <p:nvPr/>
        </p:nvSpPr>
        <p:spPr>
          <a:xfrm>
            <a:off x="9601200" y="4892040"/>
            <a:ext cx="1837944" cy="777240"/>
          </a:xfrm>
          <a:prstGeom prst="rect">
            <a:avLst/>
          </a:prstGeom>
          <a:noFill/>
          <a:ln/>
        </p:spPr>
        <p:txBody>
          <a:bodyPr wrap="square" lIns="0" tIns="0" rIns="0" bIns="0" rtlCol="0" anchor="ctr"/>
          <a:lstStyle/>
          <a:p>
            <a:pPr indent="0" marL="0">
              <a:lnSpc>
                <a:spcPts val="1600"/>
              </a:lnSpc>
              <a:buNone/>
            </a:pPr>
            <a:r>
              <a:rPr lang="en-US" sz="1200" b="1" dirty="0">
                <a:solidFill>
                  <a:srgbClr val="1A2332"/>
                </a:solidFill>
                <a:latin typeface="Calibri" pitchFamily="34" charset="0"/>
                <a:ea typeface="Calibri" pitchFamily="34" charset="-122"/>
                <a:cs typeface="Calibri" pitchFamily="34" charset="-120"/>
              </a:rPr>
              <a:t>窃取された顧客・取引先データ（約1.1TB）</a:t>
            </a:r>
            <a:endParaRPr lang="en-US" sz="1200" dirty="0"/>
          </a:p>
        </p:txBody>
      </p:sp>
      <p:sp>
        <p:nvSpPr>
          <p:cNvPr id="28" name="Text 26"/>
          <p:cNvSpPr/>
          <p:nvPr/>
        </p:nvSpPr>
        <p:spPr>
          <a:xfrm>
            <a:off x="566928" y="6144768"/>
            <a:ext cx="11055096" cy="274320"/>
          </a:xfrm>
          <a:prstGeom prst="rect">
            <a:avLst/>
          </a:prstGeom>
          <a:noFill/>
          <a:ln/>
        </p:spPr>
        <p:txBody>
          <a:bodyPr wrap="square" lIns="0" tIns="0" rIns="0" bIns="0" rtlCol="0" anchor="ctr"/>
          <a:lstStyle/>
          <a:p>
            <a:pPr indent="0" marL="0">
              <a:buNone/>
            </a:pPr>
            <a:r>
              <a:rPr lang="en-US" sz="1000" dirty="0">
                <a:solidFill>
                  <a:srgbClr val="68738A"/>
                </a:solidFill>
                <a:latin typeface="Calibri" pitchFamily="34" charset="0"/>
                <a:ea typeface="Calibri" pitchFamily="34" charset="-122"/>
                <a:cs typeface="Calibri" pitchFamily="34" charset="-120"/>
              </a:rPr>
              <a:t>犯行声明: RansomHouse（二重恐喝）。出典: アスクル被害報告書 / 各種報道（2025）</a:t>
            </a:r>
            <a:endParaRPr lang="en-US" sz="1000" dirty="0"/>
          </a:p>
        </p:txBody>
      </p:sp>
      <p:sp>
        <p:nvSpPr>
          <p:cNvPr id="29" name="Text 27"/>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事例③  ＋ 業界統計</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「導入していたのに検知できなかった」は珍しくない</a:t>
            </a:r>
            <a:endParaRPr lang="en-US" sz="3200" dirty="0"/>
          </a:p>
        </p:txBody>
      </p:sp>
      <p:sp>
        <p:nvSpPr>
          <p:cNvPr id="4" name="Shape 2"/>
          <p:cNvSpPr/>
          <p:nvPr/>
        </p:nvSpPr>
        <p:spPr>
          <a:xfrm>
            <a:off x="566928" y="1965960"/>
            <a:ext cx="6858000" cy="1234440"/>
          </a:xfrm>
          <a:prstGeom prst="roundRect">
            <a:avLst>
              <a:gd name="adj" fmla="val 5926"/>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5" name="Shape 3"/>
          <p:cNvSpPr/>
          <p:nvPr/>
        </p:nvSpPr>
        <p:spPr>
          <a:xfrm>
            <a:off x="566928" y="1965960"/>
            <a:ext cx="109728" cy="1234440"/>
          </a:xfrm>
          <a:prstGeom prst="rect">
            <a:avLst/>
          </a:prstGeom>
          <a:solidFill>
            <a:srgbClr val="C8102E"/>
          </a:solidFill>
          <a:ln/>
        </p:spPr>
      </p:sp>
      <p:sp>
        <p:nvSpPr>
          <p:cNvPr id="6" name="Text 4"/>
          <p:cNvSpPr/>
          <p:nvPr/>
        </p:nvSpPr>
        <p:spPr>
          <a:xfrm>
            <a:off x="886968" y="2084832"/>
            <a:ext cx="6400800" cy="365760"/>
          </a:xfrm>
          <a:prstGeom prst="rect">
            <a:avLst/>
          </a:prstGeom>
          <a:noFill/>
          <a:ln/>
        </p:spPr>
        <p:txBody>
          <a:bodyPr wrap="square" lIns="0" tIns="0" rIns="0" bIns="0" rtlCol="0" anchor="ctr"/>
          <a:lstStyle/>
          <a:p>
            <a:pPr indent="0" marL="0">
              <a:buNone/>
            </a:pPr>
            <a:r>
              <a:rPr lang="en-US" sz="1500" b="1" dirty="0">
                <a:solidFill>
                  <a:srgbClr val="0E1B3D"/>
                </a:solidFill>
                <a:latin typeface="Cambria" pitchFamily="34" charset="0"/>
                <a:ea typeface="Cambria" pitchFamily="34" charset="-122"/>
                <a:cs typeface="Cambria" pitchFamily="34" charset="-120"/>
              </a:rPr>
              <a:t>アサヒグループHD（2025/9）</a:t>
            </a:r>
            <a:endParaRPr lang="en-US" sz="1500" dirty="0"/>
          </a:p>
        </p:txBody>
      </p:sp>
      <p:sp>
        <p:nvSpPr>
          <p:cNvPr id="7" name="Text 5"/>
          <p:cNvSpPr/>
          <p:nvPr/>
        </p:nvSpPr>
        <p:spPr>
          <a:xfrm>
            <a:off x="886968" y="2468880"/>
            <a:ext cx="6400800" cy="685800"/>
          </a:xfrm>
          <a:prstGeom prst="rect">
            <a:avLst/>
          </a:prstGeom>
          <a:noFill/>
          <a:ln/>
        </p:spPr>
        <p:txBody>
          <a:bodyPr wrap="square" lIns="0" tIns="0" rIns="0" bIns="0" rtlCol="0" anchor="t"/>
          <a:lstStyle/>
          <a:p>
            <a:pPr indent="0" marL="0">
              <a:lnSpc>
                <a:spcPts val="1700"/>
              </a:lnSpc>
              <a:buNone/>
            </a:pPr>
            <a:r>
              <a:rPr lang="en-US" sz="1250" dirty="0">
                <a:solidFill>
                  <a:srgbClr val="1A2332"/>
                </a:solidFill>
                <a:latin typeface="Calibri" pitchFamily="34" charset="0"/>
                <a:ea typeface="Calibri" pitchFamily="34" charset="-122"/>
                <a:cs typeface="Calibri" pitchFamily="34" charset="-120"/>
              </a:rPr>
              <a:t>「EDRはすでに導入していたが、攻撃が巧妙で検知できなかった」と説明。国内主要企業でも業務停止に至った。</a:t>
            </a:r>
            <a:endParaRPr lang="en-US" sz="1250" dirty="0"/>
          </a:p>
        </p:txBody>
      </p:sp>
      <p:sp>
        <p:nvSpPr>
          <p:cNvPr id="8" name="Shape 6"/>
          <p:cNvSpPr/>
          <p:nvPr/>
        </p:nvSpPr>
        <p:spPr>
          <a:xfrm>
            <a:off x="566928" y="3383280"/>
            <a:ext cx="6858000" cy="1234440"/>
          </a:xfrm>
          <a:prstGeom prst="roundRect">
            <a:avLst>
              <a:gd name="adj" fmla="val 5926"/>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9" name="Shape 7"/>
          <p:cNvSpPr/>
          <p:nvPr/>
        </p:nvSpPr>
        <p:spPr>
          <a:xfrm>
            <a:off x="566928" y="3383280"/>
            <a:ext cx="109728" cy="1234440"/>
          </a:xfrm>
          <a:prstGeom prst="rect">
            <a:avLst/>
          </a:prstGeom>
          <a:solidFill>
            <a:srgbClr val="C8102E"/>
          </a:solidFill>
          <a:ln/>
        </p:spPr>
      </p:sp>
      <p:sp>
        <p:nvSpPr>
          <p:cNvPr id="10" name="Text 8"/>
          <p:cNvSpPr/>
          <p:nvPr/>
        </p:nvSpPr>
        <p:spPr>
          <a:xfrm>
            <a:off x="886968" y="3502152"/>
            <a:ext cx="6400800" cy="365760"/>
          </a:xfrm>
          <a:prstGeom prst="rect">
            <a:avLst/>
          </a:prstGeom>
          <a:noFill/>
          <a:ln/>
        </p:spPr>
        <p:txBody>
          <a:bodyPr wrap="square" lIns="0" tIns="0" rIns="0" bIns="0" rtlCol="0" anchor="ctr"/>
          <a:lstStyle/>
          <a:p>
            <a:pPr indent="0" marL="0">
              <a:buNone/>
            </a:pPr>
            <a:r>
              <a:rPr lang="en-US" sz="1500" b="1" dirty="0">
                <a:solidFill>
                  <a:srgbClr val="0E1B3D"/>
                </a:solidFill>
                <a:latin typeface="Cambria" pitchFamily="34" charset="0"/>
                <a:ea typeface="Cambria" pitchFamily="34" charset="-122"/>
                <a:cs typeface="Cambria" pitchFamily="34" charset="-120"/>
              </a:rPr>
              <a:t>税理士法人 髙野総合会計（2024）</a:t>
            </a:r>
            <a:endParaRPr lang="en-US" sz="1500" dirty="0"/>
          </a:p>
        </p:txBody>
      </p:sp>
      <p:sp>
        <p:nvSpPr>
          <p:cNvPr id="11" name="Text 9"/>
          <p:cNvSpPr/>
          <p:nvPr/>
        </p:nvSpPr>
        <p:spPr>
          <a:xfrm>
            <a:off x="886968" y="3886200"/>
            <a:ext cx="6400800" cy="685800"/>
          </a:xfrm>
          <a:prstGeom prst="rect">
            <a:avLst/>
          </a:prstGeom>
          <a:noFill/>
          <a:ln/>
        </p:spPr>
        <p:txBody>
          <a:bodyPr wrap="square" lIns="0" tIns="0" rIns="0" bIns="0" rtlCol="0" anchor="t"/>
          <a:lstStyle/>
          <a:p>
            <a:pPr indent="0" marL="0">
              <a:lnSpc>
                <a:spcPts val="1700"/>
              </a:lnSpc>
              <a:buNone/>
            </a:pPr>
            <a:r>
              <a:rPr lang="en-US" sz="1250" dirty="0">
                <a:solidFill>
                  <a:srgbClr val="1A2332"/>
                </a:solidFill>
                <a:latin typeface="Calibri" pitchFamily="34" charset="0"/>
                <a:ea typeface="Calibri" pitchFamily="34" charset="-122"/>
                <a:cs typeface="Calibri" pitchFamily="34" charset="-120"/>
              </a:rPr>
              <a:t>調査報告で、自社運用のウイルス対策ソフトが攻撃者に停止させられていたことを公表。</a:t>
            </a:r>
            <a:endParaRPr lang="en-US" sz="1250" dirty="0"/>
          </a:p>
        </p:txBody>
      </p:sp>
      <p:sp>
        <p:nvSpPr>
          <p:cNvPr id="12" name="Shape 10"/>
          <p:cNvSpPr/>
          <p:nvPr/>
        </p:nvSpPr>
        <p:spPr>
          <a:xfrm>
            <a:off x="7635240" y="1965960"/>
            <a:ext cx="3986784" cy="2697480"/>
          </a:xfrm>
          <a:prstGeom prst="roundRect">
            <a:avLst>
              <a:gd name="adj" fmla="val 3390"/>
            </a:avLst>
          </a:prstGeom>
          <a:solidFill>
            <a:srgbClr val="0E1B3D"/>
          </a:solidFill>
          <a:ln/>
          <a:effectLst>
            <a:outerShdw sx="100000" sy="100000" kx="0" ky="0" algn="bl" rotWithShape="0" blurRad="101600" dist="38100" dir="5400000">
              <a:srgbClr val="8A93A6">
                <a:alpha val="28000"/>
              </a:srgbClr>
            </a:outerShdw>
          </a:effectLst>
        </p:spPr>
      </p:sp>
      <p:sp>
        <p:nvSpPr>
          <p:cNvPr id="13" name="Text 11"/>
          <p:cNvSpPr/>
          <p:nvPr/>
        </p:nvSpPr>
        <p:spPr>
          <a:xfrm>
            <a:off x="7818120" y="2194560"/>
            <a:ext cx="3621024" cy="1188720"/>
          </a:xfrm>
          <a:prstGeom prst="rect">
            <a:avLst/>
          </a:prstGeom>
          <a:noFill/>
          <a:ln/>
        </p:spPr>
        <p:txBody>
          <a:bodyPr wrap="square" lIns="0" tIns="0" rIns="0" bIns="0" rtlCol="0" anchor="ctr"/>
          <a:lstStyle/>
          <a:p>
            <a:pPr algn="ctr" indent="0" marL="0">
              <a:buNone/>
            </a:pPr>
            <a:r>
              <a:rPr lang="en-US" sz="6000" b="1" dirty="0">
                <a:solidFill>
                  <a:srgbClr val="FF6B81"/>
                </a:solidFill>
                <a:latin typeface="Cambria" pitchFamily="34" charset="0"/>
                <a:ea typeface="Cambria" pitchFamily="34" charset="-122"/>
                <a:cs typeface="Cambria" pitchFamily="34" charset="-120"/>
              </a:rPr>
              <a:t>約50%</a:t>
            </a:r>
            <a:endParaRPr lang="en-US" sz="6000" dirty="0"/>
          </a:p>
        </p:txBody>
      </p:sp>
      <p:sp>
        <p:nvSpPr>
          <p:cNvPr id="14" name="Text 12"/>
          <p:cNvSpPr/>
          <p:nvPr/>
        </p:nvSpPr>
        <p:spPr>
          <a:xfrm>
            <a:off x="8001000" y="3456432"/>
            <a:ext cx="3255264" cy="1097280"/>
          </a:xfrm>
          <a:prstGeom prst="rect">
            <a:avLst/>
          </a:prstGeom>
          <a:noFill/>
          <a:ln/>
        </p:spPr>
        <p:txBody>
          <a:bodyPr wrap="square" lIns="0" tIns="0" rIns="0" bIns="0" rtlCol="0" anchor="t"/>
          <a:lstStyle/>
          <a:p>
            <a:pPr algn="ctr" indent="0" marL="0">
              <a:lnSpc>
                <a:spcPts val="1900"/>
              </a:lnSpc>
              <a:buNone/>
            </a:pPr>
            <a:r>
              <a:rPr lang="en-US" sz="1350" dirty="0">
                <a:solidFill>
                  <a:srgbClr val="DCE6F5"/>
                </a:solidFill>
                <a:latin typeface="Calibri" pitchFamily="34" charset="0"/>
                <a:ea typeface="Calibri" pitchFamily="34" charset="-122"/>
                <a:cs typeface="Calibri" pitchFamily="34" charset="-120"/>
              </a:rPr>
              <a:t>インシデント対応事例のうち、攻撃者がセキュリティソフトを無効化していた割合</a:t>
            </a:r>
            <a:endParaRPr lang="en-US" sz="1350" dirty="0"/>
          </a:p>
        </p:txBody>
      </p:sp>
      <p:sp>
        <p:nvSpPr>
          <p:cNvPr id="15" name="Text 13"/>
          <p:cNvSpPr/>
          <p:nvPr/>
        </p:nvSpPr>
        <p:spPr>
          <a:xfrm>
            <a:off x="566928" y="4983480"/>
            <a:ext cx="11055096" cy="457200"/>
          </a:xfrm>
          <a:prstGeom prst="rect">
            <a:avLst/>
          </a:prstGeom>
          <a:noFill/>
          <a:ln/>
        </p:spPr>
        <p:txBody>
          <a:bodyPr wrap="square" lIns="0" tIns="0" rIns="0" bIns="0" rtlCol="0" anchor="ctr"/>
          <a:lstStyle/>
          <a:p>
            <a:pPr indent="0" marL="0">
              <a:buNone/>
            </a:pPr>
            <a:r>
              <a:rPr lang="en-US" sz="1050" i="1" dirty="0">
                <a:solidFill>
                  <a:srgbClr val="68738A"/>
                </a:solidFill>
                <a:latin typeface="Calibri" pitchFamily="34" charset="0"/>
                <a:ea typeface="Calibri" pitchFamily="34" charset="-122"/>
                <a:cs typeface="Calibri" pitchFamily="34" charset="-120"/>
              </a:rPr>
              <a:t>出典: トレンドマイクロ（2021/1–2024/11 のIR事例）／ アサヒ・髙野会計は各社公表・報道</a:t>
            </a:r>
            <a:endParaRPr lang="en-US" sz="1050" dirty="0"/>
          </a:p>
        </p:txBody>
      </p:sp>
      <p:sp>
        <p:nvSpPr>
          <p:cNvPr id="16" name="Shape 14"/>
          <p:cNvSpPr/>
          <p:nvPr/>
        </p:nvSpPr>
        <p:spPr>
          <a:xfrm>
            <a:off x="566928" y="5440680"/>
            <a:ext cx="11055096" cy="868680"/>
          </a:xfrm>
          <a:prstGeom prst="roundRect">
            <a:avLst>
              <a:gd name="adj" fmla="val 8421"/>
            </a:avLst>
          </a:prstGeom>
          <a:solidFill>
            <a:srgbClr val="FBEDEF"/>
          </a:solidFill>
          <a:ln w="12700">
            <a:solidFill>
              <a:srgbClr val="E7B9C1"/>
            </a:solidFill>
            <a:prstDash val="solid"/>
          </a:ln>
        </p:spPr>
      </p:sp>
      <p:sp>
        <p:nvSpPr>
          <p:cNvPr id="17" name="Text 15"/>
          <p:cNvSpPr/>
          <p:nvPr/>
        </p:nvSpPr>
        <p:spPr>
          <a:xfrm>
            <a:off x="886968" y="5440680"/>
            <a:ext cx="10415016" cy="868680"/>
          </a:xfrm>
          <a:prstGeom prst="rect">
            <a:avLst/>
          </a:prstGeom>
          <a:noFill/>
          <a:ln/>
        </p:spPr>
        <p:txBody>
          <a:bodyPr wrap="square" lIns="0" tIns="0" rIns="0" bIns="0" rtlCol="0" anchor="ctr"/>
          <a:lstStyle/>
          <a:p>
            <a:pPr indent="0" marL="0">
              <a:lnSpc>
                <a:spcPts val="1900"/>
              </a:lnSpc>
              <a:buNone/>
            </a:pPr>
            <a:r>
              <a:rPr lang="en-US" sz="1400" b="1" dirty="0">
                <a:solidFill>
                  <a:srgbClr val="8E0B20"/>
                </a:solidFill>
                <a:latin typeface="Calibri" pitchFamily="34" charset="0"/>
                <a:ea typeface="Calibri" pitchFamily="34" charset="-122"/>
                <a:cs typeface="Calibri" pitchFamily="34" charset="-120"/>
              </a:rPr>
              <a:t>含意：  </a:t>
            </a:r>
            <a:pPr indent="0" marL="0">
              <a:lnSpc>
                <a:spcPts val="1900"/>
              </a:lnSpc>
              <a:buNone/>
            </a:pPr>
            <a:r>
              <a:rPr lang="en-US" sz="1400" dirty="0">
                <a:solidFill>
                  <a:srgbClr val="1A2332"/>
                </a:solidFill>
                <a:latin typeface="Calibri" pitchFamily="34" charset="0"/>
                <a:ea typeface="Calibri" pitchFamily="34" charset="-122"/>
                <a:cs typeface="Calibri" pitchFamily="34" charset="-120"/>
              </a:rPr>
              <a:t>EDRを唯一の砦にすると、それが無効化された時点で守りが崩れる。入口を塞ぎ、被害の起点そのものを減らす対策（脆弱性検査）が不可欠。</a:t>
            </a:r>
            <a:endParaRPr lang="en-US" sz="1400" dirty="0"/>
          </a:p>
        </p:txBody>
      </p:sp>
      <p:sp>
        <p:nvSpPr>
          <p:cNvPr id="18" name="Text 16"/>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事例に学ぶ攻撃フロー（VPNエッジ編）</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EDRの盲点：F/W越しの侵入 → ラテラルムーブメント</a:t>
            </a:r>
            <a:endParaRPr lang="en-US" sz="3200" dirty="0"/>
          </a:p>
        </p:txBody>
      </p:sp>
      <p:sp>
        <p:nvSpPr>
          <p:cNvPr id="4" name="Text 2"/>
          <p:cNvSpPr/>
          <p:nvPr/>
        </p:nvSpPr>
        <p:spPr>
          <a:xfrm>
            <a:off x="384048" y="1572768"/>
            <a:ext cx="1828800" cy="274320"/>
          </a:xfrm>
          <a:prstGeom prst="rect">
            <a:avLst/>
          </a:prstGeom>
          <a:noFill/>
          <a:ln/>
        </p:spPr>
        <p:txBody>
          <a:bodyPr wrap="square" lIns="0" tIns="0" rIns="0" bIns="0" rtlCol="0" anchor="ctr"/>
          <a:lstStyle/>
          <a:p>
            <a:pPr indent="0" marL="0">
              <a:buNone/>
            </a:pPr>
            <a:r>
              <a:rPr lang="en-US" sz="1200" b="1" dirty="0">
                <a:solidFill>
                  <a:srgbClr val="68738A"/>
                </a:solidFill>
                <a:latin typeface="Calibri" pitchFamily="34" charset="0"/>
                <a:ea typeface="Calibri" pitchFamily="34" charset="-122"/>
                <a:cs typeface="Calibri" pitchFamily="34" charset="-120"/>
              </a:rPr>
              <a:t>インターネット</a:t>
            </a:r>
            <a:endParaRPr lang="en-US" sz="1200" dirty="0"/>
          </a:p>
        </p:txBody>
      </p:sp>
      <p:sp>
        <p:nvSpPr>
          <p:cNvPr id="5" name="Text 3"/>
          <p:cNvSpPr/>
          <p:nvPr/>
        </p:nvSpPr>
        <p:spPr>
          <a:xfrm>
            <a:off x="2468880" y="1572768"/>
            <a:ext cx="2286000" cy="274320"/>
          </a:xfrm>
          <a:prstGeom prst="rect">
            <a:avLst/>
          </a:prstGeom>
          <a:noFill/>
          <a:ln/>
        </p:spPr>
        <p:txBody>
          <a:bodyPr wrap="square" lIns="0" tIns="0" rIns="0" bIns="0" rtlCol="0" anchor="ctr"/>
          <a:lstStyle/>
          <a:p>
            <a:pPr indent="0" marL="0">
              <a:buNone/>
            </a:pPr>
            <a:r>
              <a:rPr lang="en-US" sz="1200" b="1" dirty="0">
                <a:solidFill>
                  <a:srgbClr val="68738A"/>
                </a:solidFill>
                <a:latin typeface="Calibri" pitchFamily="34" charset="0"/>
                <a:ea typeface="Calibri" pitchFamily="34" charset="-122"/>
                <a:cs typeface="Calibri" pitchFamily="34" charset="-120"/>
              </a:rPr>
              <a:t>リレー（VPN Azure）</a:t>
            </a:r>
            <a:endParaRPr lang="en-US" sz="1200" dirty="0"/>
          </a:p>
        </p:txBody>
      </p:sp>
      <p:sp>
        <p:nvSpPr>
          <p:cNvPr id="6" name="Shape 4"/>
          <p:cNvSpPr/>
          <p:nvPr/>
        </p:nvSpPr>
        <p:spPr>
          <a:xfrm>
            <a:off x="4846320" y="1463040"/>
            <a:ext cx="6903720" cy="2560320"/>
          </a:xfrm>
          <a:prstGeom prst="roundRect">
            <a:avLst>
              <a:gd name="adj" fmla="val 3214"/>
            </a:avLst>
          </a:prstGeom>
          <a:solidFill>
            <a:srgbClr val="F7F9FD"/>
          </a:solidFill>
          <a:ln w="12700">
            <a:solidFill>
              <a:srgbClr val="E2E8F4"/>
            </a:solidFill>
            <a:prstDash val="solid"/>
          </a:ln>
        </p:spPr>
      </p:sp>
      <p:sp>
        <p:nvSpPr>
          <p:cNvPr id="7" name="Text 5"/>
          <p:cNvSpPr/>
          <p:nvPr/>
        </p:nvSpPr>
        <p:spPr>
          <a:xfrm>
            <a:off x="5897880" y="1536192"/>
            <a:ext cx="5669280" cy="292608"/>
          </a:xfrm>
          <a:prstGeom prst="rect">
            <a:avLst/>
          </a:prstGeom>
          <a:noFill/>
          <a:ln/>
        </p:spPr>
        <p:txBody>
          <a:bodyPr wrap="square" lIns="0" tIns="0" rIns="0" bIns="0" rtlCol="0" anchor="ctr"/>
          <a:lstStyle/>
          <a:p>
            <a:pPr indent="0" marL="0">
              <a:buNone/>
            </a:pPr>
            <a:r>
              <a:rPr lang="en-US" sz="1200" b="1" dirty="0">
                <a:solidFill>
                  <a:srgbClr val="0E1B3D"/>
                </a:solidFill>
                <a:latin typeface="Calibri" pitchFamily="34" charset="0"/>
                <a:ea typeface="Calibri" pitchFamily="34" charset="-122"/>
                <a:cs typeface="Calibri" pitchFamily="34" charset="-120"/>
              </a:rPr>
              <a:t>社内ネットワーク（LAN・EDR導入済み）</a:t>
            </a:r>
            <a:endParaRPr lang="en-US" sz="1200" dirty="0"/>
          </a:p>
        </p:txBody>
      </p:sp>
      <p:sp>
        <p:nvSpPr>
          <p:cNvPr id="8" name="Shape 6"/>
          <p:cNvSpPr/>
          <p:nvPr/>
        </p:nvSpPr>
        <p:spPr>
          <a:xfrm>
            <a:off x="457200" y="2240280"/>
            <a:ext cx="1691640" cy="960120"/>
          </a:xfrm>
          <a:prstGeom prst="roundRect">
            <a:avLst>
              <a:gd name="adj" fmla="val 7619"/>
            </a:avLst>
          </a:prstGeom>
          <a:solidFill>
            <a:srgbClr val="C8102E"/>
          </a:solidFill>
          <a:ln/>
          <a:effectLst>
            <a:outerShdw sx="100000" sy="100000" kx="0" ky="0" algn="bl" rotWithShape="0" blurRad="101600" dist="38100" dir="5400000">
              <a:srgbClr val="8A93A6">
                <a:alpha val="28000"/>
              </a:srgbClr>
            </a:outerShdw>
          </a:effectLst>
        </p:spPr>
      </p:sp>
      <p:sp>
        <p:nvSpPr>
          <p:cNvPr id="9" name="Text 7"/>
          <p:cNvSpPr/>
          <p:nvPr/>
        </p:nvSpPr>
        <p:spPr>
          <a:xfrm>
            <a:off x="457200" y="2240280"/>
            <a:ext cx="1691640" cy="960120"/>
          </a:xfrm>
          <a:prstGeom prst="rect">
            <a:avLst/>
          </a:prstGeom>
          <a:noFill/>
          <a:ln/>
        </p:spPr>
        <p:txBody>
          <a:bodyPr wrap="square" lIns="0" tIns="0" rIns="0" bIns="0" rtlCol="0" anchor="ctr"/>
          <a:lstStyle/>
          <a:p>
            <a:pPr algn="ctr" indent="0" marL="0">
              <a:lnSpc>
                <a:spcPts val="1700"/>
              </a:lnSpc>
              <a:buNone/>
            </a:pPr>
            <a:r>
              <a:rPr lang="en-US" sz="1300" b="1" dirty="0">
                <a:solidFill>
                  <a:srgbClr val="FFFFFF"/>
                </a:solidFill>
                <a:latin typeface="Cambria" pitchFamily="34" charset="0"/>
                <a:ea typeface="Cambria" pitchFamily="34" charset="-122"/>
                <a:cs typeface="Cambria" pitchFamily="34" charset="-120"/>
              </a:rPr>
              <a:t>攻撃者</a:t>
            </a:r>
            <a:endParaRPr lang="en-US" sz="1300" dirty="0"/>
          </a:p>
          <a:p>
            <a:pPr algn="ctr" indent="0" marL="0">
              <a:lnSpc>
                <a:spcPts val="1700"/>
              </a:lnSpc>
              <a:buNone/>
            </a:pPr>
            <a:r>
              <a:rPr lang="en-US" sz="1300" b="1" dirty="0">
                <a:solidFill>
                  <a:srgbClr val="FFFFFF"/>
                </a:solidFill>
                <a:latin typeface="Cambria" pitchFamily="34" charset="0"/>
                <a:ea typeface="Cambria" pitchFamily="34" charset="-122"/>
                <a:cs typeface="Cambria" pitchFamily="34" charset="-120"/>
              </a:rPr>
              <a:t>（社外）</a:t>
            </a:r>
            <a:endParaRPr lang="en-US" sz="1300" dirty="0"/>
          </a:p>
        </p:txBody>
      </p:sp>
      <p:sp>
        <p:nvSpPr>
          <p:cNvPr id="10" name="Shape 8"/>
          <p:cNvSpPr/>
          <p:nvPr/>
        </p:nvSpPr>
        <p:spPr>
          <a:xfrm>
            <a:off x="2468880" y="2286000"/>
            <a:ext cx="2194560" cy="868680"/>
          </a:xfrm>
          <a:prstGeom prst="roundRect">
            <a:avLst>
              <a:gd name="adj" fmla="val 14737"/>
            </a:avLst>
          </a:prstGeom>
          <a:solidFill>
            <a:srgbClr val="3E5C76"/>
          </a:solidFill>
          <a:ln/>
          <a:effectLst>
            <a:outerShdw sx="100000" sy="100000" kx="0" ky="0" algn="bl" rotWithShape="0" blurRad="101600" dist="38100" dir="5400000">
              <a:srgbClr val="8A93A6">
                <a:alpha val="28000"/>
              </a:srgbClr>
            </a:outerShdw>
          </a:effectLst>
        </p:spPr>
      </p:sp>
      <p:sp>
        <p:nvSpPr>
          <p:cNvPr id="11" name="Text 9"/>
          <p:cNvSpPr/>
          <p:nvPr/>
        </p:nvSpPr>
        <p:spPr>
          <a:xfrm>
            <a:off x="2468880" y="2286000"/>
            <a:ext cx="2194560" cy="868680"/>
          </a:xfrm>
          <a:prstGeom prst="rect">
            <a:avLst/>
          </a:prstGeom>
          <a:noFill/>
          <a:ln/>
        </p:spPr>
        <p:txBody>
          <a:bodyPr wrap="square" lIns="0" tIns="0" rIns="0" bIns="0" rtlCol="0" anchor="ctr"/>
          <a:lstStyle/>
          <a:p>
            <a:pPr algn="ctr" indent="0" marL="0">
              <a:lnSpc>
                <a:spcPts val="1600"/>
              </a:lnSpc>
              <a:buNone/>
            </a:pPr>
            <a:r>
              <a:rPr lang="en-US" sz="1150" b="1" dirty="0">
                <a:solidFill>
                  <a:srgbClr val="FFFFFF"/>
                </a:solidFill>
                <a:latin typeface="Calibri" pitchFamily="34" charset="0"/>
                <a:ea typeface="Calibri" pitchFamily="34" charset="-122"/>
                <a:cs typeface="Calibri" pitchFamily="34" charset="-120"/>
              </a:rPr>
              <a:t>VPN Azure リレー</a:t>
            </a:r>
            <a:endParaRPr lang="en-US" sz="1150" dirty="0"/>
          </a:p>
          <a:p>
            <a:pPr algn="ctr" indent="0" marL="0">
              <a:lnSpc>
                <a:spcPts val="1600"/>
              </a:lnSpc>
              <a:buNone/>
            </a:pPr>
            <a:r>
              <a:rPr lang="en-US" sz="1150" b="1" dirty="0">
                <a:solidFill>
                  <a:srgbClr val="FFFFFF"/>
                </a:solidFill>
                <a:latin typeface="Calibri" pitchFamily="34" charset="0"/>
                <a:ea typeface="Calibri" pitchFamily="34" charset="-122"/>
                <a:cs typeface="Calibri" pitchFamily="34" charset="-120"/>
              </a:rPr>
              <a:t>*.vpnazure.net</a:t>
            </a:r>
            <a:endParaRPr lang="en-US" sz="1150" dirty="0"/>
          </a:p>
        </p:txBody>
      </p:sp>
      <p:sp>
        <p:nvSpPr>
          <p:cNvPr id="12" name="Shape 10"/>
          <p:cNvSpPr/>
          <p:nvPr/>
        </p:nvSpPr>
        <p:spPr>
          <a:xfrm>
            <a:off x="4864608" y="1901952"/>
            <a:ext cx="822960" cy="1773936"/>
          </a:xfrm>
          <a:prstGeom prst="roundRect">
            <a:avLst>
              <a:gd name="adj" fmla="val 6667"/>
            </a:avLst>
          </a:prstGeom>
          <a:solidFill>
            <a:srgbClr val="0E1B3D"/>
          </a:solidFill>
          <a:ln/>
        </p:spPr>
      </p:sp>
      <p:sp>
        <p:nvSpPr>
          <p:cNvPr id="13" name="Text 11"/>
          <p:cNvSpPr/>
          <p:nvPr/>
        </p:nvSpPr>
        <p:spPr>
          <a:xfrm>
            <a:off x="4864608" y="1956816"/>
            <a:ext cx="8229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F/W</a:t>
            </a:r>
            <a:endParaRPr lang="en-US" sz="1400" dirty="0"/>
          </a:p>
        </p:txBody>
      </p:sp>
      <p:sp>
        <p:nvSpPr>
          <p:cNvPr id="14" name="Shape 12"/>
          <p:cNvSpPr/>
          <p:nvPr/>
        </p:nvSpPr>
        <p:spPr>
          <a:xfrm>
            <a:off x="5897880" y="2331720"/>
            <a:ext cx="1874520" cy="914400"/>
          </a:xfrm>
          <a:prstGeom prst="roundRect">
            <a:avLst>
              <a:gd name="adj" fmla="val 8000"/>
            </a:avLst>
          </a:prstGeom>
          <a:solidFill>
            <a:srgbClr val="FBEDEF"/>
          </a:solidFill>
          <a:ln w="19050">
            <a:solidFill>
              <a:srgbClr val="8E0B20"/>
            </a:solidFill>
            <a:prstDash val="solid"/>
          </a:ln>
          <a:effectLst>
            <a:outerShdw sx="100000" sy="100000" kx="0" ky="0" algn="bl" rotWithShape="0" blurRad="101600" dist="38100" dir="5400000">
              <a:srgbClr val="8A93A6">
                <a:alpha val="28000"/>
              </a:srgbClr>
            </a:outerShdw>
          </a:effectLst>
        </p:spPr>
      </p:sp>
      <p:sp>
        <p:nvSpPr>
          <p:cNvPr id="15" name="Text 13"/>
          <p:cNvSpPr/>
          <p:nvPr/>
        </p:nvSpPr>
        <p:spPr>
          <a:xfrm>
            <a:off x="5897880" y="2286000"/>
            <a:ext cx="1874520" cy="777240"/>
          </a:xfrm>
          <a:prstGeom prst="rect">
            <a:avLst/>
          </a:prstGeom>
          <a:noFill/>
          <a:ln/>
        </p:spPr>
        <p:txBody>
          <a:bodyPr wrap="square" lIns="0" tIns="0" rIns="0" bIns="0" rtlCol="0" anchor="t"/>
          <a:lstStyle/>
          <a:p>
            <a:pPr algn="ctr" indent="0" marL="0">
              <a:lnSpc>
                <a:spcPts val="1400"/>
              </a:lnSpc>
              <a:buNone/>
            </a:pPr>
            <a:r>
              <a:rPr lang="en-US" sz="1100" b="1" dirty="0">
                <a:solidFill>
                  <a:srgbClr val="0E1B3D"/>
                </a:solidFill>
                <a:latin typeface="Cambria" pitchFamily="34" charset="0"/>
                <a:ea typeface="Cambria" pitchFamily="34" charset="-122"/>
                <a:cs typeface="Cambria" pitchFamily="34" charset="-120"/>
              </a:rPr>
              <a:t>SoftEther</a:t>
            </a:r>
            <a:endParaRPr lang="en-US" sz="1100" dirty="0"/>
          </a:p>
          <a:p>
            <a:pPr algn="ctr" indent="0" marL="0">
              <a:lnSpc>
                <a:spcPts val="1400"/>
              </a:lnSpc>
              <a:buNone/>
            </a:pPr>
            <a:r>
              <a:rPr lang="en-US" sz="1100" b="1" dirty="0">
                <a:solidFill>
                  <a:srgbClr val="0E1B3D"/>
                </a:solidFill>
                <a:latin typeface="Cambria" pitchFamily="34" charset="0"/>
                <a:ea typeface="Cambria" pitchFamily="34" charset="-122"/>
                <a:cs typeface="Cambria" pitchFamily="34" charset="-120"/>
              </a:rPr>
              <a:t>エッジノード</a:t>
            </a:r>
            <a:endParaRPr lang="en-US" sz="1100" dirty="0"/>
          </a:p>
          <a:p>
            <a:pPr algn="ctr" indent="0" marL="0">
              <a:lnSpc>
                <a:spcPts val="1400"/>
              </a:lnSpc>
              <a:buNone/>
            </a:pPr>
            <a:r>
              <a:rPr lang="en-US" sz="1100" b="1" dirty="0">
                <a:solidFill>
                  <a:srgbClr val="0E1B3D"/>
                </a:solidFill>
                <a:latin typeface="Cambria" pitchFamily="34" charset="0"/>
                <a:ea typeface="Cambria" pitchFamily="34" charset="-122"/>
                <a:cs typeface="Cambria" pitchFamily="34" charset="-120"/>
              </a:rPr>
              <a:t>（VPNサーバ）</a:t>
            </a:r>
            <a:endParaRPr lang="en-US" sz="1100" dirty="0"/>
          </a:p>
        </p:txBody>
      </p:sp>
      <p:sp>
        <p:nvSpPr>
          <p:cNvPr id="16" name="Shape 14"/>
          <p:cNvSpPr/>
          <p:nvPr/>
        </p:nvSpPr>
        <p:spPr>
          <a:xfrm>
            <a:off x="8001000" y="2331720"/>
            <a:ext cx="1737360" cy="914400"/>
          </a:xfrm>
          <a:prstGeom prst="roundRect">
            <a:avLst>
              <a:gd name="adj" fmla="val 8000"/>
            </a:avLst>
          </a:prstGeom>
          <a:solidFill>
            <a:srgbClr val="FFFFFF"/>
          </a:solidFill>
          <a:ln w="19050">
            <a:solidFill>
              <a:srgbClr val="E2E8F4"/>
            </a:solidFill>
            <a:prstDash val="solid"/>
          </a:ln>
          <a:effectLst>
            <a:outerShdw sx="100000" sy="100000" kx="0" ky="0" algn="bl" rotWithShape="0" blurRad="101600" dist="38100" dir="5400000">
              <a:srgbClr val="8A93A6">
                <a:alpha val="28000"/>
              </a:srgbClr>
            </a:outerShdw>
          </a:effectLst>
        </p:spPr>
      </p:sp>
      <p:sp>
        <p:nvSpPr>
          <p:cNvPr id="17" name="Text 15"/>
          <p:cNvSpPr/>
          <p:nvPr/>
        </p:nvSpPr>
        <p:spPr>
          <a:xfrm>
            <a:off x="8001000" y="2395728"/>
            <a:ext cx="1737360" cy="457200"/>
          </a:xfrm>
          <a:prstGeom prst="rect">
            <a:avLst/>
          </a:prstGeom>
          <a:noFill/>
          <a:ln/>
        </p:spPr>
        <p:txBody>
          <a:bodyPr wrap="square" lIns="0" tIns="0" rIns="0" bIns="0" rtlCol="0" anchor="t"/>
          <a:lstStyle/>
          <a:p>
            <a:pPr algn="ctr" indent="0" marL="0">
              <a:buNone/>
            </a:pPr>
            <a:r>
              <a:rPr lang="en-US" sz="1200" b="1" dirty="0">
                <a:solidFill>
                  <a:srgbClr val="0E1B3D"/>
                </a:solidFill>
                <a:latin typeface="Cambria" pitchFamily="34" charset="0"/>
                <a:ea typeface="Cambria" pitchFamily="34" charset="-122"/>
                <a:cs typeface="Cambria" pitchFamily="34" charset="-120"/>
              </a:rPr>
              <a:t>業務サーバ群</a:t>
            </a:r>
            <a:endParaRPr lang="en-US" sz="1200" dirty="0"/>
          </a:p>
        </p:txBody>
      </p:sp>
      <p:sp>
        <p:nvSpPr>
          <p:cNvPr id="18" name="Shape 16"/>
          <p:cNvSpPr/>
          <p:nvPr/>
        </p:nvSpPr>
        <p:spPr>
          <a:xfrm>
            <a:off x="9921240" y="2331720"/>
            <a:ext cx="1691640" cy="914400"/>
          </a:xfrm>
          <a:prstGeom prst="roundRect">
            <a:avLst>
              <a:gd name="adj" fmla="val 8000"/>
            </a:avLst>
          </a:prstGeom>
          <a:solidFill>
            <a:srgbClr val="FFFFFF"/>
          </a:solidFill>
          <a:ln w="19050">
            <a:solidFill>
              <a:srgbClr val="C8102E"/>
            </a:solidFill>
            <a:prstDash val="solid"/>
          </a:ln>
          <a:effectLst>
            <a:outerShdw sx="100000" sy="100000" kx="0" ky="0" algn="bl" rotWithShape="0" blurRad="101600" dist="38100" dir="5400000">
              <a:srgbClr val="8A93A6">
                <a:alpha val="28000"/>
              </a:srgbClr>
            </a:outerShdw>
          </a:effectLst>
        </p:spPr>
      </p:sp>
      <p:sp>
        <p:nvSpPr>
          <p:cNvPr id="19" name="Text 17"/>
          <p:cNvSpPr/>
          <p:nvPr/>
        </p:nvSpPr>
        <p:spPr>
          <a:xfrm>
            <a:off x="9921240" y="2377440"/>
            <a:ext cx="1691640" cy="822960"/>
          </a:xfrm>
          <a:prstGeom prst="rect">
            <a:avLst/>
          </a:prstGeom>
          <a:noFill/>
          <a:ln/>
        </p:spPr>
        <p:txBody>
          <a:bodyPr wrap="square" lIns="0" tIns="0" rIns="0" bIns="0" rtlCol="0" anchor="t"/>
          <a:lstStyle/>
          <a:p>
            <a:pPr algn="ctr" indent="0" marL="0">
              <a:lnSpc>
                <a:spcPts val="1400"/>
              </a:lnSpc>
              <a:buNone/>
            </a:pPr>
            <a:r>
              <a:rPr lang="en-US" sz="1100" b="1" dirty="0">
                <a:solidFill>
                  <a:srgbClr val="8E0B20"/>
                </a:solidFill>
                <a:latin typeface="Cambria" pitchFamily="34" charset="0"/>
                <a:ea typeface="Cambria" pitchFamily="34" charset="-122"/>
                <a:cs typeface="Cambria" pitchFamily="34" charset="-120"/>
              </a:rPr>
              <a:t>AD サーバ</a:t>
            </a:r>
            <a:endParaRPr lang="en-US" sz="1100" dirty="0"/>
          </a:p>
          <a:p>
            <a:pPr algn="ctr" indent="0" marL="0">
              <a:lnSpc>
                <a:spcPts val="1400"/>
              </a:lnSpc>
              <a:buNone/>
            </a:pPr>
            <a:r>
              <a:rPr lang="en-US" sz="1100" b="1" dirty="0">
                <a:solidFill>
                  <a:srgbClr val="8E0B20"/>
                </a:solidFill>
                <a:latin typeface="Cambria" pitchFamily="34" charset="0"/>
                <a:ea typeface="Cambria" pitchFamily="34" charset="-122"/>
                <a:cs typeface="Cambria" pitchFamily="34" charset="-120"/>
              </a:rPr>
              <a:t>（管理者権限を奪取）</a:t>
            </a:r>
            <a:endParaRPr lang="en-US" sz="1100" dirty="0"/>
          </a:p>
        </p:txBody>
      </p:sp>
      <p:sp>
        <p:nvSpPr>
          <p:cNvPr id="20" name="Shape 18"/>
          <p:cNvSpPr/>
          <p:nvPr/>
        </p:nvSpPr>
        <p:spPr>
          <a:xfrm>
            <a:off x="6510528" y="2926080"/>
            <a:ext cx="658368" cy="256032"/>
          </a:xfrm>
          <a:prstGeom prst="roundRect">
            <a:avLst>
              <a:gd name="adj" fmla="val 17857"/>
            </a:avLst>
          </a:prstGeom>
          <a:solidFill>
            <a:srgbClr val="1E7A46"/>
          </a:solidFill>
          <a:ln/>
        </p:spPr>
      </p:sp>
      <p:sp>
        <p:nvSpPr>
          <p:cNvPr id="21" name="Text 19"/>
          <p:cNvSpPr/>
          <p:nvPr/>
        </p:nvSpPr>
        <p:spPr>
          <a:xfrm>
            <a:off x="6510528" y="292608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EDR</a:t>
            </a:r>
            <a:endParaRPr lang="en-US" sz="900" dirty="0"/>
          </a:p>
        </p:txBody>
      </p:sp>
      <p:sp>
        <p:nvSpPr>
          <p:cNvPr id="22" name="Shape 20"/>
          <p:cNvSpPr/>
          <p:nvPr/>
        </p:nvSpPr>
        <p:spPr>
          <a:xfrm>
            <a:off x="8540496" y="2926080"/>
            <a:ext cx="658368" cy="256032"/>
          </a:xfrm>
          <a:prstGeom prst="roundRect">
            <a:avLst>
              <a:gd name="adj" fmla="val 17857"/>
            </a:avLst>
          </a:prstGeom>
          <a:solidFill>
            <a:srgbClr val="1E7A46"/>
          </a:solidFill>
          <a:ln/>
        </p:spPr>
      </p:sp>
      <p:sp>
        <p:nvSpPr>
          <p:cNvPr id="23" name="Text 21"/>
          <p:cNvSpPr/>
          <p:nvPr/>
        </p:nvSpPr>
        <p:spPr>
          <a:xfrm>
            <a:off x="8540496" y="292608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EDR</a:t>
            </a:r>
            <a:endParaRPr lang="en-US" sz="900" dirty="0"/>
          </a:p>
        </p:txBody>
      </p:sp>
      <p:sp>
        <p:nvSpPr>
          <p:cNvPr id="24" name="Shape 22"/>
          <p:cNvSpPr/>
          <p:nvPr/>
        </p:nvSpPr>
        <p:spPr>
          <a:xfrm>
            <a:off x="10442448" y="2926080"/>
            <a:ext cx="658368" cy="256032"/>
          </a:xfrm>
          <a:prstGeom prst="roundRect">
            <a:avLst>
              <a:gd name="adj" fmla="val 17857"/>
            </a:avLst>
          </a:prstGeom>
          <a:solidFill>
            <a:srgbClr val="1E7A46"/>
          </a:solidFill>
          <a:ln/>
        </p:spPr>
      </p:sp>
      <p:sp>
        <p:nvSpPr>
          <p:cNvPr id="25" name="Text 23"/>
          <p:cNvSpPr/>
          <p:nvPr/>
        </p:nvSpPr>
        <p:spPr>
          <a:xfrm>
            <a:off x="10442448" y="2926080"/>
            <a:ext cx="65836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EDR</a:t>
            </a:r>
            <a:endParaRPr lang="en-US" sz="900" dirty="0"/>
          </a:p>
        </p:txBody>
      </p:sp>
      <p:sp>
        <p:nvSpPr>
          <p:cNvPr id="26" name="Shape 24"/>
          <p:cNvSpPr/>
          <p:nvPr/>
        </p:nvSpPr>
        <p:spPr>
          <a:xfrm>
            <a:off x="2167128" y="2615184"/>
            <a:ext cx="274320" cy="256032"/>
          </a:xfrm>
          <a:prstGeom prst="rightArrow">
            <a:avLst/>
          </a:prstGeom>
          <a:solidFill>
            <a:srgbClr val="C8102E"/>
          </a:solidFill>
          <a:ln/>
        </p:spPr>
      </p:sp>
      <p:sp>
        <p:nvSpPr>
          <p:cNvPr id="27" name="Shape 25"/>
          <p:cNvSpPr/>
          <p:nvPr/>
        </p:nvSpPr>
        <p:spPr>
          <a:xfrm>
            <a:off x="4690872" y="2468880"/>
            <a:ext cx="1170432" cy="274320"/>
          </a:xfrm>
          <a:prstGeom prst="rightArrow">
            <a:avLst/>
          </a:prstGeom>
          <a:solidFill>
            <a:srgbClr val="C8102E"/>
          </a:solidFill>
          <a:ln/>
        </p:spPr>
      </p:sp>
      <p:sp>
        <p:nvSpPr>
          <p:cNvPr id="28" name="Shape 26"/>
          <p:cNvSpPr/>
          <p:nvPr/>
        </p:nvSpPr>
        <p:spPr>
          <a:xfrm>
            <a:off x="4690872" y="3310128"/>
            <a:ext cx="1170432" cy="256032"/>
          </a:xfrm>
          <a:prstGeom prst="leftArrow">
            <a:avLst/>
          </a:prstGeom>
          <a:solidFill>
            <a:srgbClr val="7C93AC"/>
          </a:solidFill>
          <a:ln/>
        </p:spPr>
      </p:sp>
      <p:sp>
        <p:nvSpPr>
          <p:cNvPr id="29" name="Shape 27"/>
          <p:cNvSpPr/>
          <p:nvPr/>
        </p:nvSpPr>
        <p:spPr>
          <a:xfrm>
            <a:off x="7790688" y="2651760"/>
            <a:ext cx="182880" cy="256032"/>
          </a:xfrm>
          <a:prstGeom prst="rightArrow">
            <a:avLst/>
          </a:prstGeom>
          <a:solidFill>
            <a:srgbClr val="8E0B20"/>
          </a:solidFill>
          <a:ln/>
        </p:spPr>
      </p:sp>
      <p:sp>
        <p:nvSpPr>
          <p:cNvPr id="30" name="Shape 28"/>
          <p:cNvSpPr/>
          <p:nvPr/>
        </p:nvSpPr>
        <p:spPr>
          <a:xfrm>
            <a:off x="9756648" y="2651760"/>
            <a:ext cx="146304" cy="256032"/>
          </a:xfrm>
          <a:prstGeom prst="rightArrow">
            <a:avLst/>
          </a:prstGeom>
          <a:solidFill>
            <a:srgbClr val="8E0B20"/>
          </a:solidFill>
          <a:ln/>
        </p:spPr>
      </p:sp>
      <p:sp>
        <p:nvSpPr>
          <p:cNvPr id="31" name="Shape 29"/>
          <p:cNvSpPr/>
          <p:nvPr/>
        </p:nvSpPr>
        <p:spPr>
          <a:xfrm>
            <a:off x="2212848" y="2304288"/>
            <a:ext cx="310896" cy="310896"/>
          </a:xfrm>
          <a:prstGeom prst="ellipse">
            <a:avLst/>
          </a:prstGeom>
          <a:solidFill>
            <a:srgbClr val="C8102E"/>
          </a:solidFill>
          <a:ln w="19050">
            <a:solidFill>
              <a:srgbClr val="FFFFFF"/>
            </a:solidFill>
            <a:prstDash val="solid"/>
          </a:ln>
        </p:spPr>
      </p:sp>
      <p:sp>
        <p:nvSpPr>
          <p:cNvPr id="32" name="Text 30"/>
          <p:cNvSpPr/>
          <p:nvPr/>
        </p:nvSpPr>
        <p:spPr>
          <a:xfrm>
            <a:off x="2212848" y="230428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3" name="Shape 31"/>
          <p:cNvSpPr/>
          <p:nvPr/>
        </p:nvSpPr>
        <p:spPr>
          <a:xfrm>
            <a:off x="5504688" y="2103120"/>
            <a:ext cx="310896" cy="310896"/>
          </a:xfrm>
          <a:prstGeom prst="ellipse">
            <a:avLst/>
          </a:prstGeom>
          <a:solidFill>
            <a:srgbClr val="C8102E"/>
          </a:solidFill>
          <a:ln w="19050">
            <a:solidFill>
              <a:srgbClr val="FFFFFF"/>
            </a:solidFill>
            <a:prstDash val="solid"/>
          </a:ln>
        </p:spPr>
      </p:sp>
      <p:sp>
        <p:nvSpPr>
          <p:cNvPr id="34" name="Text 32"/>
          <p:cNvSpPr/>
          <p:nvPr/>
        </p:nvSpPr>
        <p:spPr>
          <a:xfrm>
            <a:off x="5504688" y="210312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5" name="Shape 33"/>
          <p:cNvSpPr/>
          <p:nvPr/>
        </p:nvSpPr>
        <p:spPr>
          <a:xfrm>
            <a:off x="5120640" y="3246120"/>
            <a:ext cx="310896" cy="310896"/>
          </a:xfrm>
          <a:prstGeom prst="ellipse">
            <a:avLst/>
          </a:prstGeom>
          <a:solidFill>
            <a:srgbClr val="5E7186"/>
          </a:solidFill>
          <a:ln w="19050">
            <a:solidFill>
              <a:srgbClr val="FFFFFF"/>
            </a:solidFill>
            <a:prstDash val="solid"/>
          </a:ln>
        </p:spPr>
      </p:sp>
      <p:sp>
        <p:nvSpPr>
          <p:cNvPr id="36" name="Text 34"/>
          <p:cNvSpPr/>
          <p:nvPr/>
        </p:nvSpPr>
        <p:spPr>
          <a:xfrm>
            <a:off x="5120640" y="324612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37" name="Shape 35"/>
          <p:cNvSpPr/>
          <p:nvPr/>
        </p:nvSpPr>
        <p:spPr>
          <a:xfrm>
            <a:off x="7726680" y="3200400"/>
            <a:ext cx="310896" cy="310896"/>
          </a:xfrm>
          <a:prstGeom prst="ellipse">
            <a:avLst/>
          </a:prstGeom>
          <a:solidFill>
            <a:srgbClr val="8E0B20"/>
          </a:solidFill>
          <a:ln w="19050">
            <a:solidFill>
              <a:srgbClr val="FFFFFF"/>
            </a:solidFill>
            <a:prstDash val="solid"/>
          </a:ln>
        </p:spPr>
      </p:sp>
      <p:sp>
        <p:nvSpPr>
          <p:cNvPr id="38" name="Text 36"/>
          <p:cNvSpPr/>
          <p:nvPr/>
        </p:nvSpPr>
        <p:spPr>
          <a:xfrm>
            <a:off x="7726680" y="32004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9" name="Shape 37"/>
          <p:cNvSpPr/>
          <p:nvPr/>
        </p:nvSpPr>
        <p:spPr>
          <a:xfrm>
            <a:off x="9646920" y="3200400"/>
            <a:ext cx="310896" cy="310896"/>
          </a:xfrm>
          <a:prstGeom prst="ellipse">
            <a:avLst/>
          </a:prstGeom>
          <a:solidFill>
            <a:srgbClr val="8E0B20"/>
          </a:solidFill>
          <a:ln w="19050">
            <a:solidFill>
              <a:srgbClr val="FFFFFF"/>
            </a:solidFill>
            <a:prstDash val="solid"/>
          </a:ln>
        </p:spPr>
      </p:sp>
      <p:sp>
        <p:nvSpPr>
          <p:cNvPr id="40" name="Text 38"/>
          <p:cNvSpPr/>
          <p:nvPr/>
        </p:nvSpPr>
        <p:spPr>
          <a:xfrm>
            <a:off x="9646920" y="32004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41" name="Shape 39"/>
          <p:cNvSpPr/>
          <p:nvPr/>
        </p:nvSpPr>
        <p:spPr>
          <a:xfrm>
            <a:off x="457200" y="4169664"/>
            <a:ext cx="11292840" cy="658368"/>
          </a:xfrm>
          <a:prstGeom prst="roundRect">
            <a:avLst>
              <a:gd name="adj" fmla="val 9722"/>
            </a:avLst>
          </a:prstGeom>
          <a:solidFill>
            <a:srgbClr val="F4F6FB"/>
          </a:solidFill>
          <a:ln w="12700">
            <a:solidFill>
              <a:srgbClr val="E2E8F4"/>
            </a:solidFill>
            <a:prstDash val="solid"/>
          </a:ln>
        </p:spPr>
      </p:sp>
      <p:sp>
        <p:nvSpPr>
          <p:cNvPr id="42" name="Text 40"/>
          <p:cNvSpPr/>
          <p:nvPr/>
        </p:nvSpPr>
        <p:spPr>
          <a:xfrm>
            <a:off x="658368" y="4169664"/>
            <a:ext cx="10881360" cy="658368"/>
          </a:xfrm>
          <a:prstGeom prst="rect">
            <a:avLst/>
          </a:prstGeom>
          <a:noFill/>
          <a:ln/>
        </p:spPr>
        <p:txBody>
          <a:bodyPr wrap="square" lIns="0" tIns="0" rIns="0" bIns="0" rtlCol="0" anchor="ctr"/>
          <a:lstStyle/>
          <a:p>
            <a:pPr indent="0" marL="0">
              <a:lnSpc>
                <a:spcPts val="1700"/>
              </a:lnSpc>
              <a:buNone/>
            </a:pPr>
            <a:r>
              <a:rPr lang="en-US" sz="1150" b="1" dirty="0">
                <a:solidFill>
                  <a:srgbClr val="5E7186"/>
                </a:solidFill>
                <a:latin typeface="Calibri" pitchFamily="34" charset="0"/>
                <a:ea typeface="Calibri" pitchFamily="34" charset="-122"/>
                <a:cs typeface="Calibri" pitchFamily="34" charset="-120"/>
              </a:rPr>
              <a:t>①</a:t>
            </a:r>
            <a:pPr indent="0" marL="0">
              <a:lnSpc>
                <a:spcPts val="1700"/>
              </a:lnSpc>
              <a:buNone/>
            </a:pPr>
            <a:r>
              <a:rPr lang="en-US" sz="1150" dirty="0">
                <a:solidFill>
                  <a:srgbClr val="1A2332"/>
                </a:solidFill>
                <a:latin typeface="Calibri" pitchFamily="34" charset="0"/>
                <a:ea typeface="Calibri" pitchFamily="34" charset="-122"/>
                <a:cs typeface="Calibri" pitchFamily="34" charset="-120"/>
              </a:rPr>
              <a:t> エッジが常時アウトバウンド接続(443)→F/Wが許可　　</a:t>
            </a:r>
            <a:pPr indent="0" marL="0">
              <a:lnSpc>
                <a:spcPts val="1700"/>
              </a:lnSpc>
              <a:buNone/>
            </a:pPr>
            <a:r>
              <a:rPr lang="en-US" sz="1150" b="1" dirty="0">
                <a:solidFill>
                  <a:srgbClr val="C8102E"/>
                </a:solidFill>
                <a:latin typeface="Calibri" pitchFamily="34" charset="0"/>
                <a:ea typeface="Calibri" pitchFamily="34" charset="-122"/>
                <a:cs typeface="Calibri" pitchFamily="34" charset="-120"/>
              </a:rPr>
              <a:t>②</a:t>
            </a:r>
            <a:pPr indent="0" marL="0">
              <a:lnSpc>
                <a:spcPts val="1700"/>
              </a:lnSpc>
              <a:buNone/>
            </a:pPr>
            <a:r>
              <a:rPr lang="en-US" sz="1150" dirty="0">
                <a:solidFill>
                  <a:srgbClr val="1A2332"/>
                </a:solidFill>
                <a:latin typeface="Calibri" pitchFamily="34" charset="0"/>
                <a:ea typeface="Calibri" pitchFamily="34" charset="-122"/>
                <a:cs typeface="Calibri" pitchFamily="34" charset="-120"/>
              </a:rPr>
              <a:t> 攻撃者はリレー越しに到達　　</a:t>
            </a:r>
            <a:pPr indent="0" marL="0">
              <a:lnSpc>
                <a:spcPts val="1700"/>
              </a:lnSpc>
              <a:buNone/>
            </a:pPr>
            <a:r>
              <a:rPr lang="en-US" sz="1150" b="1" dirty="0">
                <a:solidFill>
                  <a:srgbClr val="C8102E"/>
                </a:solidFill>
                <a:latin typeface="Calibri" pitchFamily="34" charset="0"/>
                <a:ea typeface="Calibri" pitchFamily="34" charset="-122"/>
                <a:cs typeface="Calibri" pitchFamily="34" charset="-120"/>
              </a:rPr>
              <a:t>③</a:t>
            </a:r>
            <a:pPr indent="0" marL="0">
              <a:lnSpc>
                <a:spcPts val="1700"/>
              </a:lnSpc>
              <a:buNone/>
            </a:pPr>
            <a:r>
              <a:rPr lang="en-US" sz="1150" dirty="0">
                <a:solidFill>
                  <a:srgbClr val="1A2332"/>
                </a:solidFill>
                <a:latin typeface="Calibri" pitchFamily="34" charset="0"/>
                <a:ea typeface="Calibri" pitchFamily="34" charset="-122"/>
                <a:cs typeface="Calibri" pitchFamily="34" charset="-120"/>
              </a:rPr>
              <a:t> 正規認証／未パッチCVEで侵入　　</a:t>
            </a:r>
            <a:pPr indent="0" marL="0">
              <a:lnSpc>
                <a:spcPts val="1700"/>
              </a:lnSpc>
              <a:buNone/>
            </a:pPr>
            <a:r>
              <a:rPr lang="en-US" sz="1150" b="1" dirty="0">
                <a:solidFill>
                  <a:srgbClr val="8E0B20"/>
                </a:solidFill>
                <a:latin typeface="Calibri" pitchFamily="34" charset="0"/>
                <a:ea typeface="Calibri" pitchFamily="34" charset="-122"/>
                <a:cs typeface="Calibri" pitchFamily="34" charset="-120"/>
              </a:rPr>
              <a:t>④</a:t>
            </a:r>
            <a:pPr indent="0" marL="0">
              <a:lnSpc>
                <a:spcPts val="1700"/>
              </a:lnSpc>
              <a:buNone/>
            </a:pPr>
            <a:r>
              <a:rPr lang="en-US" sz="1150" dirty="0">
                <a:solidFill>
                  <a:srgbClr val="1A2332"/>
                </a:solidFill>
                <a:latin typeface="Calibri" pitchFamily="34" charset="0"/>
                <a:ea typeface="Calibri" pitchFamily="34" charset="-122"/>
                <a:cs typeface="Calibri" pitchFamily="34" charset="-120"/>
              </a:rPr>
              <a:t> 内部を横展開　　</a:t>
            </a:r>
            <a:pPr indent="0" marL="0">
              <a:lnSpc>
                <a:spcPts val="1700"/>
              </a:lnSpc>
              <a:buNone/>
            </a:pPr>
            <a:r>
              <a:rPr lang="en-US" sz="1150" b="1" dirty="0">
                <a:solidFill>
                  <a:srgbClr val="8E0B20"/>
                </a:solidFill>
                <a:latin typeface="Calibri" pitchFamily="34" charset="0"/>
                <a:ea typeface="Calibri" pitchFamily="34" charset="-122"/>
                <a:cs typeface="Calibri" pitchFamily="34" charset="-120"/>
              </a:rPr>
              <a:t>⑤</a:t>
            </a:r>
            <a:pPr indent="0" marL="0">
              <a:lnSpc>
                <a:spcPts val="1700"/>
              </a:lnSpc>
              <a:buNone/>
            </a:pPr>
            <a:r>
              <a:rPr lang="en-US" sz="1150" dirty="0">
                <a:solidFill>
                  <a:srgbClr val="1A2332"/>
                </a:solidFill>
                <a:latin typeface="Calibri" pitchFamily="34" charset="0"/>
                <a:ea typeface="Calibri" pitchFamily="34" charset="-122"/>
                <a:cs typeface="Calibri" pitchFamily="34" charset="-120"/>
              </a:rPr>
              <a:t> AD管理者権限を奪取しEDRを無効化</a:t>
            </a:r>
            <a:endParaRPr lang="en-US" sz="1150" dirty="0"/>
          </a:p>
        </p:txBody>
      </p:sp>
      <p:sp>
        <p:nvSpPr>
          <p:cNvPr id="43" name="Shape 41"/>
          <p:cNvSpPr/>
          <p:nvPr/>
        </p:nvSpPr>
        <p:spPr>
          <a:xfrm>
            <a:off x="457200" y="4956048"/>
            <a:ext cx="4315968" cy="585216"/>
          </a:xfrm>
          <a:prstGeom prst="roundRect">
            <a:avLst>
              <a:gd name="adj" fmla="val 10938"/>
            </a:avLst>
          </a:prstGeom>
          <a:solidFill>
            <a:srgbClr val="FBEDEF"/>
          </a:solidFill>
          <a:ln w="12700">
            <a:solidFill>
              <a:srgbClr val="E7B9C1"/>
            </a:solidFill>
            <a:prstDash val="solid"/>
          </a:ln>
        </p:spPr>
      </p:sp>
      <p:sp>
        <p:nvSpPr>
          <p:cNvPr id="44" name="Text 42"/>
          <p:cNvSpPr/>
          <p:nvPr/>
        </p:nvSpPr>
        <p:spPr>
          <a:xfrm>
            <a:off x="621792" y="4956048"/>
            <a:ext cx="4023360" cy="585216"/>
          </a:xfrm>
          <a:prstGeom prst="rect">
            <a:avLst/>
          </a:prstGeom>
          <a:noFill/>
          <a:ln/>
        </p:spPr>
        <p:txBody>
          <a:bodyPr wrap="square" lIns="0" tIns="0" rIns="0" bIns="0" rtlCol="0" anchor="ctr"/>
          <a:lstStyle/>
          <a:p>
            <a:pPr indent="0" marL="0">
              <a:lnSpc>
                <a:spcPts val="1400"/>
              </a:lnSpc>
              <a:buNone/>
            </a:pPr>
            <a:r>
              <a:rPr lang="en-US" sz="1050" b="1" dirty="0">
                <a:solidFill>
                  <a:srgbClr val="8E0B20"/>
                </a:solidFill>
                <a:latin typeface="Calibri" pitchFamily="34" charset="0"/>
                <a:ea typeface="Calibri" pitchFamily="34" charset="-122"/>
                <a:cs typeface="Calibri" pitchFamily="34" charset="-120"/>
              </a:rPr>
              <a:t>EDRの盲点｜①〜③は検知できない（社外偵察・リレー到達・正規ログイン）</a:t>
            </a:r>
            <a:endParaRPr lang="en-US" sz="1050" dirty="0"/>
          </a:p>
        </p:txBody>
      </p:sp>
      <p:sp>
        <p:nvSpPr>
          <p:cNvPr id="45" name="Shape 43"/>
          <p:cNvSpPr/>
          <p:nvPr/>
        </p:nvSpPr>
        <p:spPr>
          <a:xfrm>
            <a:off x="4892040" y="4956048"/>
            <a:ext cx="6858000" cy="585216"/>
          </a:xfrm>
          <a:prstGeom prst="roundRect">
            <a:avLst>
              <a:gd name="adj" fmla="val 10938"/>
            </a:avLst>
          </a:prstGeom>
          <a:solidFill>
            <a:srgbClr val="FBF2E6"/>
          </a:solidFill>
          <a:ln w="12700">
            <a:solidFill>
              <a:srgbClr val="E8CBA0"/>
            </a:solidFill>
            <a:prstDash val="solid"/>
          </a:ln>
        </p:spPr>
      </p:sp>
      <p:sp>
        <p:nvSpPr>
          <p:cNvPr id="46" name="Text 44"/>
          <p:cNvSpPr/>
          <p:nvPr/>
        </p:nvSpPr>
        <p:spPr>
          <a:xfrm>
            <a:off x="5056632" y="4956048"/>
            <a:ext cx="6583680" cy="585216"/>
          </a:xfrm>
          <a:prstGeom prst="rect">
            <a:avLst/>
          </a:prstGeom>
          <a:noFill/>
          <a:ln/>
        </p:spPr>
        <p:txBody>
          <a:bodyPr wrap="square" lIns="0" tIns="0" rIns="0" bIns="0" rtlCol="0" anchor="ctr"/>
          <a:lstStyle/>
          <a:p>
            <a:pPr indent="0" marL="0">
              <a:lnSpc>
                <a:spcPts val="1400"/>
              </a:lnSpc>
              <a:buNone/>
            </a:pPr>
            <a:r>
              <a:rPr lang="en-US" sz="1050" b="1" dirty="0">
                <a:solidFill>
                  <a:srgbClr val="9A5B12"/>
                </a:solidFill>
                <a:latin typeface="Calibri" pitchFamily="34" charset="0"/>
                <a:ea typeface="Calibri" pitchFamily="34" charset="-122"/>
                <a:cs typeface="Calibri" pitchFamily="34" charset="-120"/>
              </a:rPr>
              <a:t>④〜⑤で初めて検知の余地。ただし攻撃者にEDRを無効化されうる（S-1でも実例あり）</a:t>
            </a:r>
            <a:endParaRPr lang="en-US" sz="1050" dirty="0"/>
          </a:p>
        </p:txBody>
      </p:sp>
      <p:sp>
        <p:nvSpPr>
          <p:cNvPr id="47" name="Shape 45"/>
          <p:cNvSpPr/>
          <p:nvPr/>
        </p:nvSpPr>
        <p:spPr>
          <a:xfrm>
            <a:off x="457200" y="5669280"/>
            <a:ext cx="11292840" cy="658368"/>
          </a:xfrm>
          <a:prstGeom prst="roundRect">
            <a:avLst>
              <a:gd name="adj" fmla="val 11111"/>
            </a:avLst>
          </a:prstGeom>
          <a:solidFill>
            <a:srgbClr val="0E1B3D"/>
          </a:solidFill>
          <a:ln/>
        </p:spPr>
      </p:sp>
      <p:sp>
        <p:nvSpPr>
          <p:cNvPr id="48" name="Text 46"/>
          <p:cNvSpPr/>
          <p:nvPr/>
        </p:nvSpPr>
        <p:spPr>
          <a:xfrm>
            <a:off x="777240" y="5669280"/>
            <a:ext cx="10698480" cy="658368"/>
          </a:xfrm>
          <a:prstGeom prst="rect">
            <a:avLst/>
          </a:prstGeom>
          <a:noFill/>
          <a:ln/>
        </p:spPr>
        <p:txBody>
          <a:bodyPr wrap="square" lIns="0" tIns="0" rIns="0" bIns="0" rtlCol="0" anchor="ctr"/>
          <a:lstStyle/>
          <a:p>
            <a:pPr indent="0" marL="0">
              <a:lnSpc>
                <a:spcPts val="1800"/>
              </a:lnSpc>
              <a:buNone/>
            </a:pPr>
            <a:r>
              <a:rPr lang="en-US" sz="1300" b="1" dirty="0">
                <a:solidFill>
                  <a:srgbClr val="FF6B81"/>
                </a:solidFill>
                <a:latin typeface="Calibri" pitchFamily="34" charset="0"/>
                <a:ea typeface="Calibri" pitchFamily="34" charset="-122"/>
                <a:cs typeface="Calibri" pitchFamily="34" charset="-120"/>
              </a:rPr>
              <a:t>要点：  </a:t>
            </a:r>
            <a:pPr indent="0" marL="0">
              <a:lnSpc>
                <a:spcPts val="1800"/>
              </a:lnSpc>
              <a:buNone/>
            </a:pPr>
            <a:r>
              <a:rPr lang="en-US" sz="1300" dirty="0">
                <a:solidFill>
                  <a:srgbClr val="DCE6F5"/>
                </a:solidFill>
                <a:latin typeface="Calibri" pitchFamily="34" charset="0"/>
                <a:ea typeface="Calibri" pitchFamily="34" charset="-122"/>
                <a:cs typeface="Calibri" pitchFamily="34" charset="-120"/>
              </a:rPr>
              <a:t>F/Wの内側にあるVPNエッジが「入口」。①〜③はEDRの管轄外で、脆弱性検査・MFA・資産棚卸しでしか塞げない。</a:t>
            </a:r>
            <a:endParaRPr lang="en-US" sz="1300" dirty="0"/>
          </a:p>
        </p:txBody>
      </p:sp>
      <p:sp>
        <p:nvSpPr>
          <p:cNvPr id="49" name="Text 47"/>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あるべき考え方</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脆弱性検査とEDRは「補完関係」― 多層で守る</a:t>
            </a:r>
            <a:endParaRPr lang="en-US" sz="3200" dirty="0"/>
          </a:p>
        </p:txBody>
      </p:sp>
      <p:sp>
        <p:nvSpPr>
          <p:cNvPr id="4" name="Shape 2"/>
          <p:cNvSpPr/>
          <p:nvPr/>
        </p:nvSpPr>
        <p:spPr>
          <a:xfrm>
            <a:off x="566928" y="2011680"/>
            <a:ext cx="7498080" cy="1097280"/>
          </a:xfrm>
          <a:prstGeom prst="roundRect">
            <a:avLst>
              <a:gd name="adj" fmla="val 666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5" name="Shape 3"/>
          <p:cNvSpPr/>
          <p:nvPr/>
        </p:nvSpPr>
        <p:spPr>
          <a:xfrm>
            <a:off x="795528" y="2267712"/>
            <a:ext cx="585216" cy="585216"/>
          </a:xfrm>
          <a:prstGeom prst="ellipse">
            <a:avLst/>
          </a:prstGeom>
          <a:solidFill>
            <a:srgbClr val="C8102E"/>
          </a:solidFill>
          <a:ln/>
        </p:spPr>
      </p:sp>
      <p:sp>
        <p:nvSpPr>
          <p:cNvPr id="6" name="Text 4"/>
          <p:cNvSpPr/>
          <p:nvPr/>
        </p:nvSpPr>
        <p:spPr>
          <a:xfrm>
            <a:off x="795528" y="226771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572768" y="2157984"/>
            <a:ext cx="6400800" cy="457200"/>
          </a:xfrm>
          <a:prstGeom prst="rect">
            <a:avLst/>
          </a:prstGeom>
          <a:noFill/>
          <a:ln/>
        </p:spPr>
        <p:txBody>
          <a:bodyPr wrap="square" lIns="0" tIns="0" rIns="0" bIns="0" rtlCol="0" anchor="ctr"/>
          <a:lstStyle/>
          <a:p>
            <a:pPr indent="0" marL="0">
              <a:buNone/>
            </a:pPr>
            <a:r>
              <a:rPr lang="en-US" sz="1700" b="1" dirty="0">
                <a:solidFill>
                  <a:srgbClr val="0E1B3D"/>
                </a:solidFill>
                <a:latin typeface="Cambria" pitchFamily="34" charset="0"/>
                <a:ea typeface="Cambria" pitchFamily="34" charset="-122"/>
                <a:cs typeface="Cambria" pitchFamily="34" charset="-120"/>
              </a:rPr>
              <a:t>入口を塞ぐ   </a:t>
            </a:r>
            <a:pPr indent="0" marL="0">
              <a:buNone/>
            </a:pPr>
            <a:r>
              <a:rPr lang="en-US" sz="1300" b="1" dirty="0">
                <a:solidFill>
                  <a:srgbClr val="C8102E"/>
                </a:solidFill>
                <a:latin typeface="Cambria" pitchFamily="34" charset="0"/>
                <a:ea typeface="Cambria" pitchFamily="34" charset="-122"/>
                <a:cs typeface="Cambria" pitchFamily="34" charset="-120"/>
              </a:rPr>
              <a:t>脆弱性検査・パッチ・認証強化(MFA)</a:t>
            </a:r>
            <a:endParaRPr lang="en-US" sz="1700" dirty="0"/>
          </a:p>
        </p:txBody>
      </p:sp>
      <p:sp>
        <p:nvSpPr>
          <p:cNvPr id="8" name="Text 6"/>
          <p:cNvSpPr/>
          <p:nvPr/>
        </p:nvSpPr>
        <p:spPr>
          <a:xfrm>
            <a:off x="1572768" y="2578608"/>
            <a:ext cx="6400800" cy="45720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侵入・乗っ取りの起点を事前に潰す</a:t>
            </a:r>
            <a:endParaRPr lang="en-US" sz="1250" dirty="0"/>
          </a:p>
        </p:txBody>
      </p:sp>
      <p:sp>
        <p:nvSpPr>
          <p:cNvPr id="9" name="Shape 7"/>
          <p:cNvSpPr/>
          <p:nvPr/>
        </p:nvSpPr>
        <p:spPr>
          <a:xfrm>
            <a:off x="566928" y="3310128"/>
            <a:ext cx="7498080" cy="1097280"/>
          </a:xfrm>
          <a:prstGeom prst="roundRect">
            <a:avLst>
              <a:gd name="adj" fmla="val 666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0" name="Shape 8"/>
          <p:cNvSpPr/>
          <p:nvPr/>
        </p:nvSpPr>
        <p:spPr>
          <a:xfrm>
            <a:off x="795528" y="3566160"/>
            <a:ext cx="585216" cy="585216"/>
          </a:xfrm>
          <a:prstGeom prst="ellipse">
            <a:avLst/>
          </a:prstGeom>
          <a:solidFill>
            <a:srgbClr val="3E5C76"/>
          </a:solidFill>
          <a:ln/>
        </p:spPr>
      </p:sp>
      <p:sp>
        <p:nvSpPr>
          <p:cNvPr id="11" name="Text 9"/>
          <p:cNvSpPr/>
          <p:nvPr/>
        </p:nvSpPr>
        <p:spPr>
          <a:xfrm>
            <a:off x="795528" y="3566160"/>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1572768" y="3456432"/>
            <a:ext cx="6400800" cy="457200"/>
          </a:xfrm>
          <a:prstGeom prst="rect">
            <a:avLst/>
          </a:prstGeom>
          <a:noFill/>
          <a:ln/>
        </p:spPr>
        <p:txBody>
          <a:bodyPr wrap="square" lIns="0" tIns="0" rIns="0" bIns="0" rtlCol="0" anchor="ctr"/>
          <a:lstStyle/>
          <a:p>
            <a:pPr indent="0" marL="0">
              <a:buNone/>
            </a:pPr>
            <a:r>
              <a:rPr lang="en-US" sz="1700" b="1" dirty="0">
                <a:solidFill>
                  <a:srgbClr val="0E1B3D"/>
                </a:solidFill>
                <a:latin typeface="Cambria" pitchFamily="34" charset="0"/>
                <a:ea typeface="Cambria" pitchFamily="34" charset="-122"/>
                <a:cs typeface="Cambria" pitchFamily="34" charset="-120"/>
              </a:rPr>
              <a:t>内側で検知   </a:t>
            </a:r>
            <a:pPr indent="0" marL="0">
              <a:buNone/>
            </a:pPr>
            <a:r>
              <a:rPr lang="en-US" sz="1300" b="1" dirty="0">
                <a:solidFill>
                  <a:srgbClr val="3E5C76"/>
                </a:solidFill>
                <a:latin typeface="Cambria" pitchFamily="34" charset="0"/>
                <a:ea typeface="Cambria" pitchFamily="34" charset="-122"/>
                <a:cs typeface="Cambria" pitchFamily="34" charset="-120"/>
              </a:rPr>
              <a:t>EDR(SentinelOne)</a:t>
            </a:r>
            <a:endParaRPr lang="en-US" sz="1700" dirty="0"/>
          </a:p>
        </p:txBody>
      </p:sp>
      <p:sp>
        <p:nvSpPr>
          <p:cNvPr id="13" name="Text 11"/>
          <p:cNvSpPr/>
          <p:nvPr/>
        </p:nvSpPr>
        <p:spPr>
          <a:xfrm>
            <a:off x="1572768" y="3877056"/>
            <a:ext cx="6400800" cy="45720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侵入されても被害拡大を検知・抑制</a:t>
            </a:r>
            <a:endParaRPr lang="en-US" sz="1250" dirty="0"/>
          </a:p>
        </p:txBody>
      </p:sp>
      <p:sp>
        <p:nvSpPr>
          <p:cNvPr id="14" name="Shape 12"/>
          <p:cNvSpPr/>
          <p:nvPr/>
        </p:nvSpPr>
        <p:spPr>
          <a:xfrm>
            <a:off x="566928" y="4608576"/>
            <a:ext cx="7498080" cy="1097280"/>
          </a:xfrm>
          <a:prstGeom prst="roundRect">
            <a:avLst>
              <a:gd name="adj" fmla="val 6667"/>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5" name="Shape 13"/>
          <p:cNvSpPr/>
          <p:nvPr/>
        </p:nvSpPr>
        <p:spPr>
          <a:xfrm>
            <a:off x="795528" y="4864608"/>
            <a:ext cx="585216" cy="585216"/>
          </a:xfrm>
          <a:prstGeom prst="ellipse">
            <a:avLst/>
          </a:prstGeom>
          <a:solidFill>
            <a:srgbClr val="1E7A46"/>
          </a:solidFill>
          <a:ln/>
        </p:spPr>
      </p:sp>
      <p:sp>
        <p:nvSpPr>
          <p:cNvPr id="16" name="Text 14"/>
          <p:cNvSpPr/>
          <p:nvPr/>
        </p:nvSpPr>
        <p:spPr>
          <a:xfrm>
            <a:off x="795528" y="4864608"/>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1572768" y="4754880"/>
            <a:ext cx="6400800" cy="457200"/>
          </a:xfrm>
          <a:prstGeom prst="rect">
            <a:avLst/>
          </a:prstGeom>
          <a:noFill/>
          <a:ln/>
        </p:spPr>
        <p:txBody>
          <a:bodyPr wrap="square" lIns="0" tIns="0" rIns="0" bIns="0" rtlCol="0" anchor="ctr"/>
          <a:lstStyle/>
          <a:p>
            <a:pPr indent="0" marL="0">
              <a:buNone/>
            </a:pPr>
            <a:r>
              <a:rPr lang="en-US" sz="1700" b="1" dirty="0">
                <a:solidFill>
                  <a:srgbClr val="0E1B3D"/>
                </a:solidFill>
                <a:latin typeface="Cambria" pitchFamily="34" charset="0"/>
                <a:ea typeface="Cambria" pitchFamily="34" charset="-122"/>
                <a:cs typeface="Cambria" pitchFamily="34" charset="-120"/>
              </a:rPr>
              <a:t>備えと復旧   </a:t>
            </a:r>
            <a:pPr indent="0" marL="0">
              <a:buNone/>
            </a:pPr>
            <a:r>
              <a:rPr lang="en-US" sz="1300" b="1" dirty="0">
                <a:solidFill>
                  <a:srgbClr val="1E7A46"/>
                </a:solidFill>
                <a:latin typeface="Cambria" pitchFamily="34" charset="0"/>
                <a:ea typeface="Cambria" pitchFamily="34" charset="-122"/>
                <a:cs typeface="Cambria" pitchFamily="34" charset="-120"/>
              </a:rPr>
              <a:t>バックアップ・監視・訓練</a:t>
            </a:r>
            <a:endParaRPr lang="en-US" sz="1700" dirty="0"/>
          </a:p>
        </p:txBody>
      </p:sp>
      <p:sp>
        <p:nvSpPr>
          <p:cNvPr id="18" name="Text 16"/>
          <p:cNvSpPr/>
          <p:nvPr/>
        </p:nvSpPr>
        <p:spPr>
          <a:xfrm>
            <a:off x="1572768" y="5175504"/>
            <a:ext cx="6400800" cy="457200"/>
          </a:xfrm>
          <a:prstGeom prst="rect">
            <a:avLst/>
          </a:prstGeom>
          <a:noFill/>
          <a:ln/>
        </p:spPr>
        <p:txBody>
          <a:bodyPr wrap="square" lIns="0" tIns="0" rIns="0" bIns="0" rtlCol="0" anchor="t"/>
          <a:lstStyle/>
          <a:p>
            <a:pPr indent="0" marL="0">
              <a:buNone/>
            </a:pPr>
            <a:r>
              <a:rPr lang="en-US" sz="1250" dirty="0">
                <a:solidFill>
                  <a:srgbClr val="1A2332"/>
                </a:solidFill>
                <a:latin typeface="Calibri" pitchFamily="34" charset="0"/>
                <a:ea typeface="Calibri" pitchFamily="34" charset="-122"/>
                <a:cs typeface="Calibri" pitchFamily="34" charset="-120"/>
              </a:rPr>
              <a:t>最悪時に事業を止めない</a:t>
            </a:r>
            <a:endParaRPr lang="en-US" sz="1250" dirty="0"/>
          </a:p>
        </p:txBody>
      </p:sp>
      <p:sp>
        <p:nvSpPr>
          <p:cNvPr id="19" name="Shape 17"/>
          <p:cNvSpPr/>
          <p:nvPr/>
        </p:nvSpPr>
        <p:spPr>
          <a:xfrm>
            <a:off x="8366760" y="2011680"/>
            <a:ext cx="3255264" cy="3712464"/>
          </a:xfrm>
          <a:prstGeom prst="roundRect">
            <a:avLst>
              <a:gd name="adj" fmla="val 2809"/>
            </a:avLst>
          </a:prstGeom>
          <a:solidFill>
            <a:srgbClr val="0E1B3D"/>
          </a:solidFill>
          <a:ln/>
          <a:effectLst>
            <a:outerShdw sx="100000" sy="100000" kx="0" ky="0" algn="bl" rotWithShape="0" blurRad="101600" dist="38100" dir="5400000">
              <a:srgbClr val="8A93A6">
                <a:alpha val="28000"/>
              </a:srgbClr>
            </a:outerShdw>
          </a:effectLst>
        </p:spPr>
      </p:sp>
      <p:sp>
        <p:nvSpPr>
          <p:cNvPr id="20" name="Text 18"/>
          <p:cNvSpPr/>
          <p:nvPr/>
        </p:nvSpPr>
        <p:spPr>
          <a:xfrm>
            <a:off x="8595360" y="2286000"/>
            <a:ext cx="2779776" cy="3200400"/>
          </a:xfrm>
          <a:prstGeom prst="rect">
            <a:avLst/>
          </a:prstGeom>
          <a:noFill/>
          <a:ln/>
        </p:spPr>
        <p:txBody>
          <a:bodyPr wrap="square" lIns="0" tIns="0" rIns="0" bIns="0" rtlCol="0" anchor="t"/>
          <a:lstStyle/>
          <a:p>
            <a:pPr indent="0" marL="0">
              <a:lnSpc>
                <a:spcPts val="2000"/>
              </a:lnSpc>
              <a:spcAft>
                <a:spcPts val="1000"/>
              </a:spcAft>
              <a:buNone/>
            </a:pPr>
            <a:r>
              <a:rPr lang="en-US" sz="1800" b="1" dirty="0">
                <a:solidFill>
                  <a:srgbClr val="FF6B81"/>
                </a:solidFill>
                <a:latin typeface="Calibri" pitchFamily="34" charset="0"/>
                <a:ea typeface="Calibri" pitchFamily="34" charset="-122"/>
                <a:cs typeface="Calibri" pitchFamily="34" charset="-120"/>
              </a:rPr>
              <a:t>S-1は層②。</a:t>
            </a:r>
            <a:endParaRPr lang="en-US" sz="1800" dirty="0"/>
          </a:p>
          <a:p>
            <a:pPr indent="0" marL="0">
              <a:lnSpc>
                <a:spcPts val="2000"/>
              </a:lnSpc>
              <a:spcAft>
                <a:spcPts val="1400"/>
              </a:spcAft>
              <a:buNone/>
            </a:pPr>
            <a:r>
              <a:rPr lang="en-US" sz="1400" dirty="0">
                <a:solidFill>
                  <a:srgbClr val="DCE6F5"/>
                </a:solidFill>
                <a:latin typeface="Calibri" pitchFamily="34" charset="0"/>
                <a:ea typeface="Calibri" pitchFamily="34" charset="-122"/>
                <a:cs typeface="Calibri" pitchFamily="34" charset="-120"/>
              </a:rPr>
              <a:t>層①（入口）が抜けたままでは、攻撃者は容易に侵入し、層②を無効化しにいく。</a:t>
            </a:r>
            <a:endParaRPr lang="en-US" sz="1800" dirty="0"/>
          </a:p>
          <a:p>
            <a:pPr indent="0" marL="0">
              <a:lnSpc>
                <a:spcPts val="2000"/>
              </a:lnSpc>
              <a:buNone/>
            </a:pPr>
            <a:r>
              <a:rPr lang="en-US" sz="1400" b="1" dirty="0">
                <a:solidFill>
                  <a:srgbClr val="FFFFFF"/>
                </a:solidFill>
                <a:latin typeface="Calibri" pitchFamily="34" charset="0"/>
                <a:ea typeface="Calibri" pitchFamily="34" charset="-122"/>
                <a:cs typeface="Calibri" pitchFamily="34" charset="-120"/>
              </a:rPr>
              <a:t>脆弱性検査は層②を置き換えるものではなく、層②が守る前提となる層①を成立させるもの。</a:t>
            </a:r>
            <a:endParaRPr lang="en-US" sz="1800" dirty="0"/>
          </a:p>
        </p:txBody>
      </p:sp>
      <p:sp>
        <p:nvSpPr>
          <p:cNvPr id="21" name="Text 19"/>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C8102E"/>
                </a:solidFill>
                <a:latin typeface="Calibri" pitchFamily="34" charset="0"/>
                <a:ea typeface="Calibri" pitchFamily="34" charset="-122"/>
                <a:cs typeface="Calibri" pitchFamily="34" charset="-120"/>
              </a:rPr>
              <a:t>Aenaへの提言</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S-1に加えて今すぐ着手したい5項目</a:t>
            </a:r>
            <a:endParaRPr lang="en-US" sz="3200" dirty="0"/>
          </a:p>
        </p:txBody>
      </p:sp>
      <p:sp>
        <p:nvSpPr>
          <p:cNvPr id="4" name="Shape 2"/>
          <p:cNvSpPr/>
          <p:nvPr/>
        </p:nvSpPr>
        <p:spPr>
          <a:xfrm>
            <a:off x="566928" y="1920240"/>
            <a:ext cx="5344668" cy="1143000"/>
          </a:xfrm>
          <a:prstGeom prst="roundRect">
            <a:avLst>
              <a:gd name="adj" fmla="val 640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5" name="Shape 3"/>
          <p:cNvSpPr/>
          <p:nvPr/>
        </p:nvSpPr>
        <p:spPr>
          <a:xfrm>
            <a:off x="795528" y="2203704"/>
            <a:ext cx="566928" cy="566928"/>
          </a:xfrm>
          <a:prstGeom prst="ellipse">
            <a:avLst/>
          </a:prstGeom>
          <a:solidFill>
            <a:srgbClr val="C8102E"/>
          </a:solidFill>
          <a:ln/>
        </p:spPr>
      </p:sp>
      <p:sp>
        <p:nvSpPr>
          <p:cNvPr id="6" name="Text 4"/>
          <p:cNvSpPr/>
          <p:nvPr/>
        </p:nvSpPr>
        <p:spPr>
          <a:xfrm>
            <a:off x="795528" y="220370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527048" y="2066544"/>
            <a:ext cx="4155948" cy="457200"/>
          </a:xfrm>
          <a:prstGeom prst="rect">
            <a:avLst/>
          </a:prstGeom>
          <a:noFill/>
          <a:ln/>
        </p:spPr>
        <p:txBody>
          <a:bodyPr wrap="square" lIns="0" tIns="0" rIns="0" bIns="0" rtlCol="0" anchor="t"/>
          <a:lstStyle/>
          <a:p>
            <a:pPr indent="0" marL="0">
              <a:buNone/>
            </a:pPr>
            <a:r>
              <a:rPr lang="en-US" sz="1550" b="1" dirty="0">
                <a:solidFill>
                  <a:srgbClr val="0E1B3D"/>
                </a:solidFill>
                <a:latin typeface="Cambria" pitchFamily="34" charset="0"/>
                <a:ea typeface="Cambria" pitchFamily="34" charset="-122"/>
                <a:cs typeface="Cambria" pitchFamily="34" charset="-120"/>
              </a:rPr>
              <a:t>外部公開資産の脆弱性検査を定期実施</a:t>
            </a:r>
            <a:endParaRPr lang="en-US" sz="1550" dirty="0"/>
          </a:p>
        </p:txBody>
      </p:sp>
      <p:sp>
        <p:nvSpPr>
          <p:cNvPr id="8" name="Text 6"/>
          <p:cNvSpPr/>
          <p:nvPr/>
        </p:nvSpPr>
        <p:spPr>
          <a:xfrm>
            <a:off x="1527048" y="2487168"/>
            <a:ext cx="4155948" cy="50292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VPN・公開サーバ・Webを対象に、悪用可能な入口を洗い出す</a:t>
            </a:r>
            <a:endParaRPr lang="en-US" sz="1250" dirty="0"/>
          </a:p>
        </p:txBody>
      </p:sp>
      <p:sp>
        <p:nvSpPr>
          <p:cNvPr id="9" name="Shape 7"/>
          <p:cNvSpPr/>
          <p:nvPr/>
        </p:nvSpPr>
        <p:spPr>
          <a:xfrm>
            <a:off x="6277356" y="1920240"/>
            <a:ext cx="5344668" cy="1143000"/>
          </a:xfrm>
          <a:prstGeom prst="roundRect">
            <a:avLst>
              <a:gd name="adj" fmla="val 640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0" name="Shape 8"/>
          <p:cNvSpPr/>
          <p:nvPr/>
        </p:nvSpPr>
        <p:spPr>
          <a:xfrm>
            <a:off x="6505956" y="2203704"/>
            <a:ext cx="566928" cy="566928"/>
          </a:xfrm>
          <a:prstGeom prst="ellipse">
            <a:avLst/>
          </a:prstGeom>
          <a:solidFill>
            <a:srgbClr val="C8102E"/>
          </a:solidFill>
          <a:ln/>
        </p:spPr>
      </p:sp>
      <p:sp>
        <p:nvSpPr>
          <p:cNvPr id="11" name="Text 9"/>
          <p:cNvSpPr/>
          <p:nvPr/>
        </p:nvSpPr>
        <p:spPr>
          <a:xfrm>
            <a:off x="6505956" y="220370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7237476" y="2066544"/>
            <a:ext cx="4155948" cy="457200"/>
          </a:xfrm>
          <a:prstGeom prst="rect">
            <a:avLst/>
          </a:prstGeom>
          <a:noFill/>
          <a:ln/>
        </p:spPr>
        <p:txBody>
          <a:bodyPr wrap="square" lIns="0" tIns="0" rIns="0" bIns="0" rtlCol="0" anchor="t"/>
          <a:lstStyle/>
          <a:p>
            <a:pPr indent="0" marL="0">
              <a:buNone/>
            </a:pPr>
            <a:r>
              <a:rPr lang="en-US" sz="1550" b="1" dirty="0">
                <a:solidFill>
                  <a:srgbClr val="0E1B3D"/>
                </a:solidFill>
                <a:latin typeface="Cambria" pitchFamily="34" charset="0"/>
                <a:ea typeface="Cambria" pitchFamily="34" charset="-122"/>
                <a:cs typeface="Cambria" pitchFamily="34" charset="-120"/>
              </a:rPr>
              <a:t>パッチ運用の徹底と棚卸し</a:t>
            </a:r>
            <a:endParaRPr lang="en-US" sz="1550" dirty="0"/>
          </a:p>
        </p:txBody>
      </p:sp>
      <p:sp>
        <p:nvSpPr>
          <p:cNvPr id="13" name="Text 11"/>
          <p:cNvSpPr/>
          <p:nvPr/>
        </p:nvSpPr>
        <p:spPr>
          <a:xfrm>
            <a:off x="7237476" y="2487168"/>
            <a:ext cx="4155948" cy="50292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侵入元の約半数は未パッチ。適用状況を継続的に可視化</a:t>
            </a:r>
            <a:endParaRPr lang="en-US" sz="1250" dirty="0"/>
          </a:p>
        </p:txBody>
      </p:sp>
      <p:sp>
        <p:nvSpPr>
          <p:cNvPr id="14" name="Shape 12"/>
          <p:cNvSpPr/>
          <p:nvPr/>
        </p:nvSpPr>
        <p:spPr>
          <a:xfrm>
            <a:off x="566928" y="3246120"/>
            <a:ext cx="5344668" cy="1143000"/>
          </a:xfrm>
          <a:prstGeom prst="roundRect">
            <a:avLst>
              <a:gd name="adj" fmla="val 640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15" name="Shape 13"/>
          <p:cNvSpPr/>
          <p:nvPr/>
        </p:nvSpPr>
        <p:spPr>
          <a:xfrm>
            <a:off x="795528" y="3529584"/>
            <a:ext cx="566928" cy="566928"/>
          </a:xfrm>
          <a:prstGeom prst="ellipse">
            <a:avLst/>
          </a:prstGeom>
          <a:solidFill>
            <a:srgbClr val="C8102E"/>
          </a:solidFill>
          <a:ln/>
        </p:spPr>
      </p:sp>
      <p:sp>
        <p:nvSpPr>
          <p:cNvPr id="16" name="Text 14"/>
          <p:cNvSpPr/>
          <p:nvPr/>
        </p:nvSpPr>
        <p:spPr>
          <a:xfrm>
            <a:off x="795528" y="352958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1527048" y="3392424"/>
            <a:ext cx="4155948" cy="457200"/>
          </a:xfrm>
          <a:prstGeom prst="rect">
            <a:avLst/>
          </a:prstGeom>
          <a:noFill/>
          <a:ln/>
        </p:spPr>
        <p:txBody>
          <a:bodyPr wrap="square" lIns="0" tIns="0" rIns="0" bIns="0" rtlCol="0" anchor="t"/>
          <a:lstStyle/>
          <a:p>
            <a:pPr indent="0" marL="0">
              <a:buNone/>
            </a:pPr>
            <a:r>
              <a:rPr lang="en-US" sz="1550" b="1" dirty="0">
                <a:solidFill>
                  <a:srgbClr val="0E1B3D"/>
                </a:solidFill>
                <a:latin typeface="Cambria" pitchFamily="34" charset="0"/>
                <a:ea typeface="Cambria" pitchFamily="34" charset="-122"/>
                <a:cs typeface="Cambria" pitchFamily="34" charset="-120"/>
              </a:rPr>
              <a:t>認証の強化（MFA・特権管理）</a:t>
            </a:r>
            <a:endParaRPr lang="en-US" sz="1550" dirty="0"/>
          </a:p>
        </p:txBody>
      </p:sp>
      <p:sp>
        <p:nvSpPr>
          <p:cNvPr id="18" name="Text 16"/>
          <p:cNvSpPr/>
          <p:nvPr/>
        </p:nvSpPr>
        <p:spPr>
          <a:xfrm>
            <a:off x="1527048" y="3813048"/>
            <a:ext cx="4155948" cy="50292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盗まれた正規アカウントでの侵入を防ぐ。ADの保護を優先</a:t>
            </a:r>
            <a:endParaRPr lang="en-US" sz="1250" dirty="0"/>
          </a:p>
        </p:txBody>
      </p:sp>
      <p:sp>
        <p:nvSpPr>
          <p:cNvPr id="19" name="Shape 17"/>
          <p:cNvSpPr/>
          <p:nvPr/>
        </p:nvSpPr>
        <p:spPr>
          <a:xfrm>
            <a:off x="6277356" y="3246120"/>
            <a:ext cx="5344668" cy="1143000"/>
          </a:xfrm>
          <a:prstGeom prst="roundRect">
            <a:avLst>
              <a:gd name="adj" fmla="val 640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20" name="Shape 18"/>
          <p:cNvSpPr/>
          <p:nvPr/>
        </p:nvSpPr>
        <p:spPr>
          <a:xfrm>
            <a:off x="6505956" y="3529584"/>
            <a:ext cx="566928" cy="566928"/>
          </a:xfrm>
          <a:prstGeom prst="ellipse">
            <a:avLst/>
          </a:prstGeom>
          <a:solidFill>
            <a:srgbClr val="C8102E"/>
          </a:solidFill>
          <a:ln/>
        </p:spPr>
      </p:sp>
      <p:sp>
        <p:nvSpPr>
          <p:cNvPr id="21" name="Text 19"/>
          <p:cNvSpPr/>
          <p:nvPr/>
        </p:nvSpPr>
        <p:spPr>
          <a:xfrm>
            <a:off x="6505956" y="352958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237476" y="3392424"/>
            <a:ext cx="4155948" cy="457200"/>
          </a:xfrm>
          <a:prstGeom prst="rect">
            <a:avLst/>
          </a:prstGeom>
          <a:noFill/>
          <a:ln/>
        </p:spPr>
        <p:txBody>
          <a:bodyPr wrap="square" lIns="0" tIns="0" rIns="0" bIns="0" rtlCol="0" anchor="t"/>
          <a:lstStyle/>
          <a:p>
            <a:pPr indent="0" marL="0">
              <a:buNone/>
            </a:pPr>
            <a:r>
              <a:rPr lang="en-US" sz="1550" b="1" dirty="0">
                <a:solidFill>
                  <a:srgbClr val="0E1B3D"/>
                </a:solidFill>
                <a:latin typeface="Cambria" pitchFamily="34" charset="0"/>
                <a:ea typeface="Cambria" pitchFamily="34" charset="-122"/>
                <a:cs typeface="Cambria" pitchFamily="34" charset="-120"/>
              </a:rPr>
              <a:t>SentinelOneの堅牢化設定</a:t>
            </a:r>
            <a:endParaRPr lang="en-US" sz="1550" dirty="0"/>
          </a:p>
        </p:txBody>
      </p:sp>
      <p:sp>
        <p:nvSpPr>
          <p:cNvPr id="23" name="Text 21"/>
          <p:cNvSpPr/>
          <p:nvPr/>
        </p:nvSpPr>
        <p:spPr>
          <a:xfrm>
            <a:off x="7237476" y="3813048"/>
            <a:ext cx="4155948" cy="50292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Online Authorization等で無効化・改ざん回避を難しくする</a:t>
            </a:r>
            <a:endParaRPr lang="en-US" sz="1250" dirty="0"/>
          </a:p>
        </p:txBody>
      </p:sp>
      <p:sp>
        <p:nvSpPr>
          <p:cNvPr id="24" name="Shape 22"/>
          <p:cNvSpPr/>
          <p:nvPr/>
        </p:nvSpPr>
        <p:spPr>
          <a:xfrm>
            <a:off x="566928" y="4572000"/>
            <a:ext cx="11055096" cy="1143000"/>
          </a:xfrm>
          <a:prstGeom prst="roundRect">
            <a:avLst>
              <a:gd name="adj" fmla="val 6400"/>
            </a:avLst>
          </a:prstGeom>
          <a:solidFill>
            <a:srgbClr val="F4F6FB"/>
          </a:solidFill>
          <a:ln w="12700">
            <a:solidFill>
              <a:srgbClr val="E2E8F4"/>
            </a:solidFill>
            <a:prstDash val="solid"/>
          </a:ln>
          <a:effectLst>
            <a:outerShdw sx="100000" sy="100000" kx="0" ky="0" algn="bl" rotWithShape="0" blurRad="101600" dist="38100" dir="5400000">
              <a:srgbClr val="8A93A6">
                <a:alpha val="28000"/>
              </a:srgbClr>
            </a:outerShdw>
          </a:effectLst>
        </p:spPr>
      </p:sp>
      <p:sp>
        <p:nvSpPr>
          <p:cNvPr id="25" name="Shape 23"/>
          <p:cNvSpPr/>
          <p:nvPr/>
        </p:nvSpPr>
        <p:spPr>
          <a:xfrm>
            <a:off x="795528" y="4855464"/>
            <a:ext cx="566928" cy="566928"/>
          </a:xfrm>
          <a:prstGeom prst="ellipse">
            <a:avLst/>
          </a:prstGeom>
          <a:solidFill>
            <a:srgbClr val="C8102E"/>
          </a:solidFill>
          <a:ln/>
        </p:spPr>
      </p:sp>
      <p:sp>
        <p:nvSpPr>
          <p:cNvPr id="26" name="Text 24"/>
          <p:cNvSpPr/>
          <p:nvPr/>
        </p:nvSpPr>
        <p:spPr>
          <a:xfrm>
            <a:off x="795528" y="485546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1527048" y="4718304"/>
            <a:ext cx="9866376" cy="457200"/>
          </a:xfrm>
          <a:prstGeom prst="rect">
            <a:avLst/>
          </a:prstGeom>
          <a:noFill/>
          <a:ln/>
        </p:spPr>
        <p:txBody>
          <a:bodyPr wrap="square" lIns="0" tIns="0" rIns="0" bIns="0" rtlCol="0" anchor="t"/>
          <a:lstStyle/>
          <a:p>
            <a:pPr indent="0" marL="0">
              <a:buNone/>
            </a:pPr>
            <a:r>
              <a:rPr lang="en-US" sz="1550" b="1" dirty="0">
                <a:solidFill>
                  <a:srgbClr val="0E1B3D"/>
                </a:solidFill>
                <a:latin typeface="Cambria" pitchFamily="34" charset="0"/>
                <a:ea typeface="Cambria" pitchFamily="34" charset="-122"/>
                <a:cs typeface="Cambria" pitchFamily="34" charset="-120"/>
              </a:rPr>
              <a:t>バックアップと復旧訓練</a:t>
            </a:r>
            <a:endParaRPr lang="en-US" sz="1550" dirty="0"/>
          </a:p>
        </p:txBody>
      </p:sp>
      <p:sp>
        <p:nvSpPr>
          <p:cNvPr id="28" name="Text 26"/>
          <p:cNvSpPr/>
          <p:nvPr/>
        </p:nvSpPr>
        <p:spPr>
          <a:xfrm>
            <a:off x="1527048" y="5138928"/>
            <a:ext cx="9866376" cy="502920"/>
          </a:xfrm>
          <a:prstGeom prst="rect">
            <a:avLst/>
          </a:prstGeom>
          <a:noFill/>
          <a:ln/>
        </p:spPr>
        <p:txBody>
          <a:bodyPr wrap="square" lIns="0" tIns="0" rIns="0" bIns="0" rtlCol="0" anchor="t"/>
          <a:lstStyle/>
          <a:p>
            <a:pPr indent="0" marL="0">
              <a:lnSpc>
                <a:spcPts val="1600"/>
              </a:lnSpc>
              <a:buNone/>
            </a:pPr>
            <a:r>
              <a:rPr lang="en-US" sz="1250" dirty="0">
                <a:solidFill>
                  <a:srgbClr val="1A2332"/>
                </a:solidFill>
                <a:latin typeface="Calibri" pitchFamily="34" charset="0"/>
                <a:ea typeface="Calibri" pitchFamily="34" charset="-122"/>
                <a:cs typeface="Calibri" pitchFamily="34" charset="-120"/>
              </a:rPr>
              <a:t>暗号化されても事業を止めない。オフライン保管と定期演習</a:t>
            </a:r>
            <a:endParaRPr lang="en-US" sz="1250" dirty="0"/>
          </a:p>
        </p:txBody>
      </p:sp>
      <p:sp>
        <p:nvSpPr>
          <p:cNvPr id="29" name="Text 27"/>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B3D"/>
        </a:solidFill>
      </p:bgPr>
    </p:bg>
    <p:spTree>
      <p:nvGrpSpPr>
        <p:cNvPr id="1" name=""/>
        <p:cNvGrpSpPr/>
        <p:nvPr/>
      </p:nvGrpSpPr>
      <p:grpSpPr>
        <a:xfrm>
          <a:off x="0" y="0"/>
          <a:ext cx="0" cy="0"/>
          <a:chOff x="0" y="0"/>
          <a:chExt cx="0" cy="0"/>
        </a:xfrm>
      </p:grpSpPr>
      <p:sp>
        <p:nvSpPr>
          <p:cNvPr id="2" name="Shape 0"/>
          <p:cNvSpPr/>
          <p:nvPr/>
        </p:nvSpPr>
        <p:spPr>
          <a:xfrm rot="1080000">
            <a:off x="9326880" y="4206240"/>
            <a:ext cx="4023360" cy="4023360"/>
          </a:xfrm>
          <a:prstGeom prst="roundRect">
            <a:avLst>
              <a:gd name="adj" fmla="val 11364"/>
            </a:avLst>
          </a:prstGeom>
          <a:solidFill>
            <a:srgbClr val="18294F"/>
          </a:solidFill>
          <a:ln/>
        </p:spPr>
      </p:sp>
      <p:sp>
        <p:nvSpPr>
          <p:cNvPr id="3" name="Text 1"/>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FF6B81"/>
                </a:solidFill>
                <a:latin typeface="Calibri" pitchFamily="34" charset="0"/>
                <a:ea typeface="Calibri" pitchFamily="34" charset="-122"/>
                <a:cs typeface="Calibri" pitchFamily="34" charset="-120"/>
              </a:rPr>
              <a:t>まとめ</a:t>
            </a:r>
            <a:endParaRPr lang="en-US" sz="1200" dirty="0"/>
          </a:p>
        </p:txBody>
      </p:sp>
      <p:sp>
        <p:nvSpPr>
          <p:cNvPr id="4" name="Text 2"/>
          <p:cNvSpPr/>
          <p:nvPr/>
        </p:nvSpPr>
        <p:spPr>
          <a:xfrm>
            <a:off x="566928" y="1371600"/>
            <a:ext cx="10972800" cy="1188720"/>
          </a:xfrm>
          <a:prstGeom prst="rect">
            <a:avLst/>
          </a:prstGeom>
          <a:noFill/>
          <a:ln/>
        </p:spPr>
        <p:txBody>
          <a:bodyPr wrap="square" lIns="0" tIns="0" rIns="0" bIns="0" rtlCol="0" anchor="t"/>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「S-1導入済みだから脆弱性検査は不要」は成り立たない。</a:t>
            </a:r>
            <a:endParaRPr lang="en-US" sz="3000" dirty="0"/>
          </a:p>
        </p:txBody>
      </p:sp>
      <p:sp>
        <p:nvSpPr>
          <p:cNvPr id="5" name="Text 3"/>
          <p:cNvSpPr/>
          <p:nvPr/>
        </p:nvSpPr>
        <p:spPr>
          <a:xfrm>
            <a:off x="658368" y="2788920"/>
            <a:ext cx="10698480" cy="2560320"/>
          </a:xfrm>
          <a:prstGeom prst="rect">
            <a:avLst/>
          </a:prstGeom>
          <a:noFill/>
          <a:ln/>
        </p:spPr>
        <p:txBody>
          <a:bodyPr wrap="square" lIns="0" tIns="0" rIns="0" bIns="0" rtlCol="0" anchor="t"/>
          <a:lstStyle/>
          <a:p>
            <a:pPr marL="342900" indent="-342900">
              <a:lnSpc>
                <a:spcPts val="2300"/>
              </a:lnSpc>
              <a:spcAft>
                <a:spcPts val="1400"/>
              </a:spcAft>
              <a:buSzPct val="100000"/>
              <a:buChar char="▸"/>
            </a:pPr>
            <a:r>
              <a:rPr lang="en-US" sz="1650" dirty="0">
                <a:solidFill>
                  <a:srgbClr val="DCE6F5"/>
                </a:solidFill>
                <a:latin typeface="Calibri" pitchFamily="34" charset="0"/>
                <a:ea typeface="Calibri" pitchFamily="34" charset="-122"/>
                <a:cs typeface="Calibri" pitchFamily="34" charset="-120"/>
              </a:rPr>
              <a:t>ランサム被害は、アカウント乗っ取りと侵入の後に起きる最終工程。</a:t>
            </a:r>
            <a:endParaRPr lang="en-US" sz="1650" dirty="0"/>
          </a:p>
          <a:p>
            <a:pPr marL="342900" indent="-342900">
              <a:lnSpc>
                <a:spcPts val="2300"/>
              </a:lnSpc>
              <a:spcAft>
                <a:spcPts val="1400"/>
              </a:spcAft>
              <a:buSzPct val="100000"/>
              <a:buChar char="▸"/>
            </a:pPr>
            <a:r>
              <a:rPr lang="en-US" sz="1650" dirty="0">
                <a:solidFill>
                  <a:srgbClr val="DCE6F5"/>
                </a:solidFill>
                <a:latin typeface="Calibri" pitchFamily="34" charset="0"/>
                <a:ea typeface="Calibri" pitchFamily="34" charset="-122"/>
                <a:cs typeface="Calibri" pitchFamily="34" charset="-120"/>
              </a:rPr>
              <a:t>その入口（VPN・公開資産・未パッチ・認証情報）はEDRの守備範囲外。</a:t>
            </a:r>
            <a:endParaRPr lang="en-US" sz="1650" dirty="0"/>
          </a:p>
          <a:p>
            <a:pPr marL="342900" indent="-342900">
              <a:lnSpc>
                <a:spcPts val="2300"/>
              </a:lnSpc>
              <a:spcAft>
                <a:spcPts val="1400"/>
              </a:spcAft>
              <a:buSzPct val="100000"/>
              <a:buChar char="▸"/>
            </a:pPr>
            <a:r>
              <a:rPr lang="en-US" sz="1650" dirty="0">
                <a:solidFill>
                  <a:srgbClr val="DCE6F5"/>
                </a:solidFill>
                <a:latin typeface="Calibri" pitchFamily="34" charset="0"/>
                <a:ea typeface="Calibri" pitchFamily="34" charset="-122"/>
                <a:cs typeface="Calibri" pitchFamily="34" charset="-120"/>
              </a:rPr>
              <a:t>EDR自体、攻撃者に無効化・回避されうる（S-1でも実例あり）。</a:t>
            </a:r>
            <a:endParaRPr lang="en-US" sz="1650" dirty="0"/>
          </a:p>
          <a:p>
            <a:pPr marL="342900" indent="-342900">
              <a:lnSpc>
                <a:spcPts val="2300"/>
              </a:lnSpc>
              <a:spcAft>
                <a:spcPts val="1400"/>
              </a:spcAft>
              <a:buSzPct val="100000"/>
              <a:buChar char="▸"/>
            </a:pPr>
            <a:r>
              <a:rPr lang="en-US" sz="1650" dirty="0">
                <a:solidFill>
                  <a:srgbClr val="DCE6F5"/>
                </a:solidFill>
                <a:latin typeface="Calibri" pitchFamily="34" charset="0"/>
                <a:ea typeface="Calibri" pitchFamily="34" charset="-122"/>
                <a:cs typeface="Calibri" pitchFamily="34" charset="-120"/>
              </a:rPr>
              <a:t>脆弱性検査はEDRの代替ではなく、EDRが機能する前提を支える補完策。</a:t>
            </a:r>
            <a:endParaRPr lang="en-US" sz="1650" dirty="0"/>
          </a:p>
        </p:txBody>
      </p:sp>
      <p:sp>
        <p:nvSpPr>
          <p:cNvPr id="6" name="Shape 4"/>
          <p:cNvSpPr/>
          <p:nvPr/>
        </p:nvSpPr>
        <p:spPr>
          <a:xfrm>
            <a:off x="566928" y="5532120"/>
            <a:ext cx="11055096" cy="777240"/>
          </a:xfrm>
          <a:prstGeom prst="roundRect">
            <a:avLst>
              <a:gd name="adj" fmla="val 9412"/>
            </a:avLst>
          </a:prstGeom>
          <a:solidFill>
            <a:srgbClr val="C8102E"/>
          </a:solidFill>
          <a:ln/>
        </p:spPr>
      </p:sp>
      <p:sp>
        <p:nvSpPr>
          <p:cNvPr id="7" name="Text 5"/>
          <p:cNvSpPr/>
          <p:nvPr/>
        </p:nvSpPr>
        <p:spPr>
          <a:xfrm>
            <a:off x="886968" y="5532120"/>
            <a:ext cx="10415016" cy="7772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 S-1 を活かすためにも、入口を塞ぐ脆弱性検査を「あわせて」継続することを提言する。</a:t>
            </a:r>
            <a:endParaRPr lang="en-US" sz="1600" dirty="0"/>
          </a:p>
        </p:txBody>
      </p:sp>
      <p:sp>
        <p:nvSpPr>
          <p:cNvPr id="8" name="Text 6"/>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DCE6F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74320"/>
          </a:xfrm>
          <a:prstGeom prst="rect">
            <a:avLst/>
          </a:prstGeom>
          <a:noFill/>
          <a:ln/>
        </p:spPr>
        <p:txBody>
          <a:bodyPr wrap="square" lIns="0" tIns="0" rIns="0" bIns="0" rtlCol="0" anchor="ctr"/>
          <a:lstStyle/>
          <a:p>
            <a:pPr algn="l" indent="0" marL="0">
              <a:buNone/>
            </a:pPr>
            <a:r>
              <a:rPr lang="en-US" sz="1200" b="1" spc="300" kern="0" dirty="0">
                <a:solidFill>
                  <a:srgbClr val="68738A"/>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66928" y="658368"/>
            <a:ext cx="11055096" cy="868680"/>
          </a:xfrm>
          <a:prstGeom prst="rect">
            <a:avLst/>
          </a:prstGeom>
          <a:noFill/>
          <a:ln/>
        </p:spPr>
        <p:txBody>
          <a:bodyPr wrap="square" lIns="0" tIns="0" rIns="0" bIns="0" rtlCol="0" anchor="t"/>
          <a:lstStyle/>
          <a:p>
            <a:pPr algn="l" indent="0" marL="0">
              <a:buNone/>
            </a:pPr>
            <a:r>
              <a:rPr lang="en-US" sz="3200" b="1" dirty="0">
                <a:solidFill>
                  <a:srgbClr val="0E1B3D"/>
                </a:solidFill>
                <a:latin typeface="Cambria" pitchFamily="34" charset="0"/>
                <a:ea typeface="Cambria" pitchFamily="34" charset="-122"/>
                <a:cs typeface="Cambria" pitchFamily="34" charset="-120"/>
              </a:rPr>
              <a:t>出典</a:t>
            </a:r>
            <a:endParaRPr lang="en-US" sz="3200" dirty="0"/>
          </a:p>
        </p:txBody>
      </p:sp>
      <p:sp>
        <p:nvSpPr>
          <p:cNvPr id="4" name="Text 2"/>
          <p:cNvSpPr/>
          <p:nvPr/>
        </p:nvSpPr>
        <p:spPr>
          <a:xfrm>
            <a:off x="566928" y="1828800"/>
            <a:ext cx="11055096" cy="4206240"/>
          </a:xfrm>
          <a:prstGeom prst="rect">
            <a:avLst/>
          </a:prstGeom>
          <a:noFill/>
          <a:ln/>
        </p:spPr>
        <p:txBody>
          <a:bodyPr wrap="square" lIns="0" tIns="0" rIns="0" bIns="0" rtlCol="0" anchor="t"/>
          <a:lstStyle/>
          <a:p>
            <a:pPr marL="342900" indent="-342900">
              <a:lnSpc>
                <a:spcPts val="1900"/>
              </a:lnSpc>
              <a:spcAft>
                <a:spcPts val="1200"/>
              </a:spcAft>
              <a:buSzPct val="100000"/>
              <a:buChar char="•"/>
            </a:pPr>
            <a:r>
              <a:rPr lang="en-US" sz="1300" dirty="0">
                <a:solidFill>
                  <a:srgbClr val="1A2332"/>
                </a:solidFill>
                <a:latin typeface="Calibri" pitchFamily="34" charset="0"/>
                <a:ea typeface="Calibri" pitchFamily="34" charset="-122"/>
                <a:cs typeface="Calibri" pitchFamily="34" charset="-120"/>
              </a:rPr>
              <a:t>警察庁サイバー警察局「令和7年上半期におけるサイバー空間をめぐる脅威の情勢等について」（2025）</a:t>
            </a:r>
            <a:endParaRPr lang="en-US" sz="1300" dirty="0"/>
          </a:p>
          <a:p>
            <a:pPr marL="342900" indent="-342900">
              <a:lnSpc>
                <a:spcPts val="1900"/>
              </a:lnSpc>
              <a:spcAft>
                <a:spcPts val="1200"/>
              </a:spcAft>
              <a:buSzPct val="100000"/>
              <a:buChar char="•"/>
            </a:pPr>
            <a:r>
              <a:rPr lang="en-US" sz="1300" dirty="0">
                <a:solidFill>
                  <a:srgbClr val="1A2332"/>
                </a:solidFill>
                <a:latin typeface="Calibri" pitchFamily="34" charset="0"/>
                <a:ea typeface="Calibri" pitchFamily="34" charset="-122"/>
                <a:cs typeface="Calibri" pitchFamily="34" charset="-120"/>
              </a:rPr>
              <a:t>トレンドマイクロ「EDRを入れればセキュリティ対策は安心？」／ IR事例分析（2021–2024）／ アスクル被害報告書の解説（2025）</a:t>
            </a:r>
            <a:endParaRPr lang="en-US" sz="1300" dirty="0"/>
          </a:p>
          <a:p>
            <a:pPr marL="342900" indent="-342900">
              <a:lnSpc>
                <a:spcPts val="1900"/>
              </a:lnSpc>
              <a:spcAft>
                <a:spcPts val="1200"/>
              </a:spcAft>
              <a:buSzPct val="100000"/>
              <a:buChar char="•"/>
            </a:pPr>
            <a:r>
              <a:rPr lang="en-US" sz="1300" dirty="0">
                <a:solidFill>
                  <a:srgbClr val="1A2332"/>
                </a:solidFill>
                <a:latin typeface="Calibri" pitchFamily="34" charset="0"/>
                <a:ea typeface="Calibri" pitchFamily="34" charset="-122"/>
                <a:cs typeface="Calibri" pitchFamily="34" charset="-120"/>
              </a:rPr>
              <a:t>BleepingComputer / SecurityAffairs「Bring Your Own Installer (BYOI) EDR bypass used in ransomware attack」（Aon Stroz Friedberg, 2025）</a:t>
            </a:r>
            <a:endParaRPr lang="en-US" sz="1300" dirty="0"/>
          </a:p>
          <a:p>
            <a:pPr marL="342900" indent="-342900">
              <a:lnSpc>
                <a:spcPts val="1900"/>
              </a:lnSpc>
              <a:spcAft>
                <a:spcPts val="1200"/>
              </a:spcAft>
              <a:buSzPct val="100000"/>
              <a:buChar char="•"/>
            </a:pPr>
            <a:r>
              <a:rPr lang="en-US" sz="1300" dirty="0">
                <a:solidFill>
                  <a:srgbClr val="1A2332"/>
                </a:solidFill>
                <a:latin typeface="Calibri" pitchFamily="34" charset="0"/>
                <a:ea typeface="Calibri" pitchFamily="34" charset="-122"/>
                <a:cs typeface="Calibri" pitchFamily="34" charset="-120"/>
              </a:rPr>
              <a:t>アスクル株式会社 ランサムウェア被害報告書 および各種報道（2025）</a:t>
            </a:r>
            <a:endParaRPr lang="en-US" sz="1300" dirty="0"/>
          </a:p>
          <a:p>
            <a:pPr marL="342900" indent="-342900">
              <a:lnSpc>
                <a:spcPts val="1900"/>
              </a:lnSpc>
              <a:spcAft>
                <a:spcPts val="1200"/>
              </a:spcAft>
              <a:buSzPct val="100000"/>
              <a:buChar char="•"/>
            </a:pPr>
            <a:r>
              <a:rPr lang="en-US" sz="1300" dirty="0">
                <a:solidFill>
                  <a:srgbClr val="1A2332"/>
                </a:solidFill>
                <a:latin typeface="Calibri" pitchFamily="34" charset="0"/>
                <a:ea typeface="Calibri" pitchFamily="34" charset="-122"/>
                <a:cs typeface="Calibri" pitchFamily="34" charset="-120"/>
              </a:rPr>
              <a:t>アサヒグループHD 公表・報道（2025）／ 税理士法人髙野総合会計 調査結果報告（2024）</a:t>
            </a:r>
            <a:endParaRPr lang="en-US" sz="1300" dirty="0"/>
          </a:p>
          <a:p>
            <a:pPr marL="342900" indent="-342900">
              <a:lnSpc>
                <a:spcPts val="1900"/>
              </a:lnSpc>
              <a:spcAft>
                <a:spcPts val="1200"/>
              </a:spcAft>
              <a:buSzPct val="100000"/>
              <a:buChar char="•"/>
            </a:pPr>
            <a:r>
              <a:rPr lang="en-US" sz="1300" dirty="0">
                <a:solidFill>
                  <a:srgbClr val="1A2332"/>
                </a:solidFill>
                <a:latin typeface="Calibri" pitchFamily="34" charset="0"/>
                <a:ea typeface="Calibri" pitchFamily="34" charset="-122"/>
                <a:cs typeface="Calibri" pitchFamily="34" charset="-120"/>
              </a:rPr>
              <a:t>デジタルアーツ セキュリティレポート「ランサムウェア侵入原因の約34％が認証情報」（公表38件, 2024/1–2025/5）</a:t>
            </a:r>
            <a:endParaRPr lang="en-US" sz="1300" dirty="0"/>
          </a:p>
          <a:p>
            <a:pPr marL="342900" indent="-342900">
              <a:lnSpc>
                <a:spcPts val="1900"/>
              </a:lnSpc>
              <a:spcAft>
                <a:spcPts val="1200"/>
              </a:spcAft>
              <a:buSzPct val="100000"/>
              <a:buChar char="•"/>
            </a:pPr>
            <a:r>
              <a:rPr lang="en-US" sz="1300" dirty="0">
                <a:solidFill>
                  <a:srgbClr val="1A2332"/>
                </a:solidFill>
                <a:latin typeface="Calibri" pitchFamily="34" charset="0"/>
                <a:ea typeface="Calibri" pitchFamily="34" charset="-122"/>
                <a:cs typeface="Calibri" pitchFamily="34" charset="-120"/>
              </a:rPr>
              <a:t>日経クロステック「アサヒやアスクルへの攻撃で使われた『EDR回避』」（2025）</a:t>
            </a:r>
            <a:endParaRPr lang="en-US" sz="1300" dirty="0"/>
          </a:p>
        </p:txBody>
      </p:sp>
      <p:sp>
        <p:nvSpPr>
          <p:cNvPr id="5" name="Text 3"/>
          <p:cNvSpPr/>
          <p:nvPr/>
        </p:nvSpPr>
        <p:spPr>
          <a:xfrm>
            <a:off x="566928" y="6172200"/>
            <a:ext cx="11055096" cy="274320"/>
          </a:xfrm>
          <a:prstGeom prst="rect">
            <a:avLst/>
          </a:prstGeom>
          <a:noFill/>
          <a:ln/>
        </p:spPr>
        <p:txBody>
          <a:bodyPr wrap="square" lIns="0" tIns="0" rIns="0" bIns="0" rtlCol="0" anchor="ctr"/>
          <a:lstStyle/>
          <a:p>
            <a:pPr indent="0" marL="0">
              <a:buNone/>
            </a:pPr>
            <a:r>
              <a:rPr lang="en-US" sz="1000" i="1" dirty="0">
                <a:solidFill>
                  <a:srgbClr val="68738A"/>
                </a:solidFill>
                <a:latin typeface="Calibri" pitchFamily="34" charset="0"/>
                <a:ea typeface="Calibri" pitchFamily="34" charset="-122"/>
                <a:cs typeface="Calibri" pitchFamily="34" charset="-120"/>
              </a:rPr>
              <a:t>※ 数値・日付は公表資料および報道に基づく要約。詳細は各一次情報を参照のこと。</a:t>
            </a:r>
            <a:endParaRPr lang="en-US" sz="1000" dirty="0"/>
          </a:p>
        </p:txBody>
      </p:sp>
      <p:sp>
        <p:nvSpPr>
          <p:cNvPr id="6" name="Text 4"/>
          <p:cNvSpPr/>
          <p:nvPr/>
        </p:nvSpPr>
        <p:spPr>
          <a:xfrm>
            <a:off x="11411712" y="6400800"/>
            <a:ext cx="457200" cy="274320"/>
          </a:xfrm>
          <a:prstGeom prst="rect">
            <a:avLst/>
          </a:prstGeom>
          <a:noFill/>
          <a:ln/>
        </p:spPr>
        <p:txBody>
          <a:bodyPr wrap="square" lIns="0" tIns="0" rIns="0" bIns="0" rtlCol="0" anchor="ctr"/>
          <a:lstStyle/>
          <a:p>
            <a:pPr algn="r" indent="0" marL="0">
              <a:buNone/>
            </a:pPr>
            <a:r>
              <a:rPr lang="en-US" sz="1000" dirty="0">
                <a:solidFill>
                  <a:srgbClr val="68738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Security Briefing</dc:creator>
  <cp:lastModifiedBy>Security Briefing</cp:lastModifiedBy>
  <cp:revision>1</cp:revision>
  <dcterms:created xsi:type="dcterms:W3CDTF">2026-07-27T03:34:00Z</dcterms:created>
  <dcterms:modified xsi:type="dcterms:W3CDTF">2026-07-27T03:34:00Z</dcterms:modified>
</cp:coreProperties>
</file>